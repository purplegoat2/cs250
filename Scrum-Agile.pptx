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61" r:id="rId2"/>
    <p:sldId id="257" r:id="rId3"/>
    <p:sldId id="258" r:id="rId4"/>
    <p:sldId id="259" r:id="rId5"/>
    <p:sldId id="260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B3041"/>
    <a:srgbClr val="061820"/>
    <a:srgbClr val="1E8BBC"/>
    <a:srgbClr val="088A74"/>
    <a:srgbClr val="6CCAC1"/>
    <a:srgbClr val="077B68"/>
    <a:srgbClr val="125370"/>
    <a:srgbClr val="114B65"/>
    <a:srgbClr val="196D93"/>
    <a:srgbClr val="8DB5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BA58DA-24B6-41E3-BCDB-7568A625AD60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9DF0B5-4A94-4FE9-901A-A989C68AEF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5736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9DF0B5-4A94-4FE9-901A-A989C68AEF9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4105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9DF0B5-4A94-4FE9-901A-A989C68AEF9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1274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38B1F-3AC4-ABF8-4CB4-344B6C22D4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368363-E3F8-D6B0-2DA4-4397A7259F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1A6BAF-1F45-3FEB-E940-C5A180852F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FBC8D-CD35-4678-A0BD-AF32FBD3F775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B5E05C-C7B3-5F43-77FE-520BC4B32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3D6583-C25F-9929-3874-4C626952D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BE224-4EA2-440F-B569-BB7CA9D7AB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774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3267C-206F-664F-3D54-62690D837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05F37E-6025-B226-BC16-47FE2912D5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D08FD1-D0CE-9159-CC0F-DA6E2D520D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FBC8D-CD35-4678-A0BD-AF32FBD3F775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E4140C-90D7-1A5A-E23A-7041ED014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92D761-5C06-00E4-A1A1-DDA808240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BE224-4EA2-440F-B569-BB7CA9D7AB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8139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000654-751A-6586-FAF7-1066706D3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BEEECC-4EDD-D5B5-CE85-8465ACFEF5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81A117-086B-BC53-4CA1-AB6970B134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FBC8D-CD35-4678-A0BD-AF32FBD3F775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DE5CCB-BB27-B221-C37F-0F3DA116C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8DAB9C-FD83-BB63-9A0E-BACE8B100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BE224-4EA2-440F-B569-BB7CA9D7AB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976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99669-269B-E3CE-15CF-49592D27C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6B2C5A-8B55-925B-CF7F-269DC8F05B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B1EA6C-9FE5-6675-1C80-CCE5AD8DCC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B5CA23-3147-4EA2-941E-47F19DF52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FBC8D-CD35-4678-A0BD-AF32FBD3F775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89410E-95B0-B3A8-EB9C-C47405E4A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80E2AF-8C4C-3D99-364C-D6F1D7D33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BE224-4EA2-440F-B569-BB7CA9D7AB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5800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51ED5-FBA4-7660-DCC2-6E1061626B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5B280C-69CD-4C1F-CDD6-6FDC996F96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449A0C-97A9-51C5-E9E4-B298407B6A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276EF9-F222-8C5C-DF7F-07B2289554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36FF4E-4895-7C36-1836-6F15DAC8C5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2C8841B-FD63-17E4-2795-F071FDE95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FBC8D-CD35-4678-A0BD-AF32FBD3F775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E445F58-F6F2-FEBD-59B7-E8207971C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459562-2FFB-6EC9-2CCF-C5A01AA36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BE224-4EA2-440F-B569-BB7CA9D7AB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2505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BC19F-DFAA-D7E6-041E-944810675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2E0A78-6E17-70E6-2D0A-D989793B4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FBC8D-CD35-4678-A0BD-AF32FBD3F775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44C41C-DD00-747F-7A3E-F7DAE3E11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0CE372-E577-EC4C-0904-F2295F531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BE224-4EA2-440F-B569-BB7CA9D7AB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9790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886588-14FB-DE30-F2BF-BC507686D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FBC8D-CD35-4678-A0BD-AF32FBD3F775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636990-1B7C-FF23-890D-FF4F698C8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1E6B32-0836-9109-15DD-85336BF2E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BE224-4EA2-440F-B569-BB7CA9D7AB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2936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14304-D656-A90F-143E-7B3905E61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D5C605-B6C4-06DF-A81E-9EEC38E8B4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57553D-708B-A23A-2F5E-D6C12356B3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FEA1B8-0E48-3ABB-6750-81E526BBD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FBC8D-CD35-4678-A0BD-AF32FBD3F775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248385-20B2-C1A4-84CD-504460CBF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9AAA88-7F4A-EEB5-DE75-958366EBD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BE224-4EA2-440F-B569-BB7CA9D7AB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916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321E7B-8BDC-7499-0B3D-3A389AA28D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9A9734-31F6-30AE-9743-FD9FA19832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091C5A-DADF-CAE1-3163-1CAADD0043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030F6D-D0A0-861A-0AB9-4D3FA7410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FBC8D-CD35-4678-A0BD-AF32FBD3F775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EC40F1-F8FB-90FF-C6F5-65061CD75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FB37DB-FE29-267C-873A-A9AE35687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BE224-4EA2-440F-B569-BB7CA9D7AB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6083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65FF0-7FC9-02FF-A536-76594DCD4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276DCE-B80F-D586-8697-B608DD9EAC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50C10A-F031-1664-70F6-569533FA34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FBC8D-CD35-4678-A0BD-AF32FBD3F775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9BFB3C-71A8-9116-094A-6CB61B05A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E0328E-F5A8-9D00-9B65-D228ADC75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BE224-4EA2-440F-B569-BB7CA9D7AB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1038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6DFCD67-76FE-D779-BF8F-E1B2442A4A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B5F60A-97EA-E057-8304-33B43741CE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CF7A55-9E2E-9C78-5108-0713DADAC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FBC8D-CD35-4678-A0BD-AF32FBD3F775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14A11C-AEFE-B220-0F94-2C611797B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50F001-046C-85B1-5BF0-691B7764C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BE224-4EA2-440F-B569-BB7CA9D7AB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348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9D096F5-7C82-CA06-FD46-C1A3767BB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C1BDE7-04AB-C025-456A-D5D05EE506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7AE6FD-4B02-027F-0A59-3DDCCEBFA6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DFBC8D-CD35-4678-A0BD-AF32FBD3F775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8AFBD3-C8BD-C1F0-2A4C-E5E9533C8E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89AAB2-6CCC-DAE5-2A2D-2806821D5B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DBE224-4EA2-440F-B569-BB7CA9D7AB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8724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sv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svg"/><Relationship Id="rId4" Type="http://schemas.openxmlformats.org/officeDocument/2006/relationships/image" Target="../media/image17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sv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7" name="Rectangle 96">
            <a:extLst>
              <a:ext uri="{FF2B5EF4-FFF2-40B4-BE49-F238E27FC236}">
                <a16:creationId xmlns:a16="http://schemas.microsoft.com/office/drawing/2014/main" id="{3AFE8227-C443-417B-BA91-520EB1EF45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Title 1">
            <a:extLst>
              <a:ext uri="{FF2B5EF4-FFF2-40B4-BE49-F238E27FC236}">
                <a16:creationId xmlns:a16="http://schemas.microsoft.com/office/drawing/2014/main" id="{96858194-53EB-C04F-CB28-AA0EB90E762B}"/>
              </a:ext>
            </a:extLst>
          </p:cNvPr>
          <p:cNvSpPr txBox="1">
            <a:spLocks/>
          </p:cNvSpPr>
          <p:nvPr/>
        </p:nvSpPr>
        <p:spPr>
          <a:xfrm>
            <a:off x="8643193" y="899327"/>
            <a:ext cx="2942813" cy="190383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4000" b="1" dirty="0"/>
              <a:t>Scrum-Agile</a:t>
            </a:r>
            <a:br>
              <a:rPr lang="en-US" sz="4000" b="1" dirty="0"/>
            </a:br>
            <a:r>
              <a:rPr lang="en-US" sz="4000" b="1" dirty="0"/>
              <a:t>Approach for</a:t>
            </a:r>
            <a:br>
              <a:rPr lang="en-US" sz="4000" b="1" dirty="0"/>
            </a:br>
            <a:r>
              <a:rPr lang="en-US" sz="4000" b="1" dirty="0" err="1"/>
              <a:t>ChadaTech</a:t>
            </a:r>
            <a:endParaRPr lang="en-US" sz="4000" b="1" dirty="0"/>
          </a:p>
        </p:txBody>
      </p:sp>
      <p:pic>
        <p:nvPicPr>
          <p:cNvPr id="82" name="Picture 81">
            <a:extLst>
              <a:ext uri="{FF2B5EF4-FFF2-40B4-BE49-F238E27FC236}">
                <a16:creationId xmlns:a16="http://schemas.microsoft.com/office/drawing/2014/main" id="{2F9DD271-CD63-C578-F799-A72DBFD44F1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57" r="3133" b="1"/>
          <a:stretch>
            <a:fillRect/>
          </a:stretch>
        </p:blipFill>
        <p:spPr>
          <a:xfrm>
            <a:off x="0" y="0"/>
            <a:ext cx="8037199" cy="6211669"/>
          </a:xfrm>
          <a:prstGeom prst="rect">
            <a:avLst/>
          </a:prstGeom>
          <a:gradFill>
            <a:gsLst>
              <a:gs pos="5000">
                <a:srgbClr val="6CCAC1"/>
              </a:gs>
              <a:gs pos="55000">
                <a:srgbClr val="0AB296"/>
              </a:gs>
              <a:gs pos="100000">
                <a:srgbClr val="114B65"/>
              </a:gs>
            </a:gsLst>
            <a:lin ang="0" scaled="1"/>
          </a:gradFill>
        </p:spPr>
      </p:pic>
      <p:sp>
        <p:nvSpPr>
          <p:cNvPr id="78" name="Subtitle 2">
            <a:extLst>
              <a:ext uri="{FF2B5EF4-FFF2-40B4-BE49-F238E27FC236}">
                <a16:creationId xmlns:a16="http://schemas.microsoft.com/office/drawing/2014/main" id="{4FFF7B78-8991-30A2-491C-522D2ED05470}"/>
              </a:ext>
            </a:extLst>
          </p:cNvPr>
          <p:cNvSpPr txBox="1">
            <a:spLocks/>
          </p:cNvSpPr>
          <p:nvPr/>
        </p:nvSpPr>
        <p:spPr>
          <a:xfrm>
            <a:off x="8643194" y="3105834"/>
            <a:ext cx="2824281" cy="2735788"/>
          </a:xfrm>
          <a:prstGeom prst="rect">
            <a:avLst/>
          </a:prstGeom>
        </p:spPr>
        <p:txBody>
          <a:bodyPr vert="horz" lIns="216000" tIns="216000" rIns="21600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/>
              <a:t>Evaluating </a:t>
            </a:r>
          </a:p>
          <a:p>
            <a:pPr marL="0" indent="0">
              <a:buNone/>
            </a:pPr>
            <a:r>
              <a:rPr lang="en-US" sz="2000" dirty="0"/>
              <a:t>Scrum-Agile </a:t>
            </a:r>
          </a:p>
          <a:p>
            <a:pPr marL="0" indent="0">
              <a:buNone/>
            </a:pPr>
            <a:r>
              <a:rPr lang="en-US" sz="2000" dirty="0"/>
              <a:t>Through the SNHU Travel Project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907741FC-B544-4A6E-B831-6789D04233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6408741"/>
            <a:ext cx="12191998" cy="457202"/>
          </a:xfrm>
          <a:prstGeom prst="rect">
            <a:avLst/>
          </a:prstGeom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3F0BE7ED-7814-4273-B18A-F26CC0380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6408742"/>
            <a:ext cx="8115300" cy="449258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DBBCF91-9316-CAB8-4F09-874DB2957A55}"/>
              </a:ext>
            </a:extLst>
          </p:cNvPr>
          <p:cNvSpPr/>
          <p:nvPr/>
        </p:nvSpPr>
        <p:spPr>
          <a:xfrm>
            <a:off x="-7" y="6203724"/>
            <a:ext cx="8115280" cy="654274"/>
          </a:xfrm>
          <a:prstGeom prst="rect">
            <a:avLst/>
          </a:prstGeom>
          <a:gradFill>
            <a:gsLst>
              <a:gs pos="0">
                <a:srgbClr val="114B65"/>
              </a:gs>
              <a:gs pos="45000">
                <a:srgbClr val="061820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FAF807DF-02F7-2FB3-E04A-A57232B51417}"/>
              </a:ext>
            </a:extLst>
          </p:cNvPr>
          <p:cNvSpPr txBox="1"/>
          <p:nvPr/>
        </p:nvSpPr>
        <p:spPr>
          <a:xfrm>
            <a:off x="0" y="6211669"/>
            <a:ext cx="31029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3600" b="1" dirty="0">
                <a:solidFill>
                  <a:schemeClr val="bg1"/>
                </a:solidFill>
              </a:rPr>
              <a:t>Bora Yang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B081F55-F55B-B5DE-5B26-D677EDB6D36E}"/>
              </a:ext>
            </a:extLst>
          </p:cNvPr>
          <p:cNvSpPr/>
          <p:nvPr/>
        </p:nvSpPr>
        <p:spPr>
          <a:xfrm>
            <a:off x="8115273" y="6203724"/>
            <a:ext cx="4076727" cy="646331"/>
          </a:xfrm>
          <a:prstGeom prst="rect">
            <a:avLst/>
          </a:prstGeom>
          <a:gradFill>
            <a:gsLst>
              <a:gs pos="0">
                <a:srgbClr val="0B3041"/>
              </a:gs>
              <a:gs pos="100000">
                <a:srgbClr val="196D93"/>
              </a:gs>
            </a:gsLst>
            <a:lin ang="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087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>
            <a:extLst>
              <a:ext uri="{FF2B5EF4-FFF2-40B4-BE49-F238E27FC236}">
                <a16:creationId xmlns:a16="http://schemas.microsoft.com/office/drawing/2014/main" id="{C1E74307-A3E4-7207-9CD9-F2AD30F1C4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078" y="1961575"/>
            <a:ext cx="3975517" cy="3975517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092B967D-A537-1194-D272-0983169E5B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4680" y="2074208"/>
            <a:ext cx="2293494" cy="229349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8208A68-B6DA-DD1D-E31D-78CB450D91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4968" y="4218769"/>
            <a:ext cx="2546242" cy="254624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85649FE-9D94-D14B-B3EC-B89225F1C4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4867" y="156084"/>
            <a:ext cx="2132049" cy="213204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B493D0-6561-5ECD-600E-CD5C1771F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475" y="636012"/>
            <a:ext cx="4018613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002B3E"/>
                </a:solidFill>
              </a:rPr>
              <a:t>Scrum-Agile</a:t>
            </a:r>
            <a:br>
              <a:rPr lang="en-US" b="1" dirty="0">
                <a:solidFill>
                  <a:srgbClr val="002B3E"/>
                </a:solidFill>
              </a:rPr>
            </a:br>
            <a:r>
              <a:rPr lang="en-US" b="1" dirty="0">
                <a:solidFill>
                  <a:srgbClr val="002B3E"/>
                </a:solidFill>
              </a:rPr>
              <a:t>Team Roles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2045A83-BD27-F05D-5DC1-F2EF1F21C342}"/>
              </a:ext>
            </a:extLst>
          </p:cNvPr>
          <p:cNvSpPr txBox="1"/>
          <p:nvPr/>
        </p:nvSpPr>
        <p:spPr>
          <a:xfrm>
            <a:off x="7682261" y="5168"/>
            <a:ext cx="353361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200000"/>
              </a:lnSpc>
            </a:pPr>
            <a:r>
              <a:rPr lang="en-US" sz="2400" b="1" dirty="0"/>
              <a:t>Product Owner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Represents customer needs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Manages the Product Backlog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Sets priorities and clarifies requirements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F3A736E-8F28-0CD5-CC6B-D4F2A8A83048}"/>
              </a:ext>
            </a:extLst>
          </p:cNvPr>
          <p:cNvSpPr txBox="1"/>
          <p:nvPr/>
        </p:nvSpPr>
        <p:spPr>
          <a:xfrm>
            <a:off x="4727570" y="2169530"/>
            <a:ext cx="353361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200000"/>
              </a:lnSpc>
            </a:pPr>
            <a:r>
              <a:rPr lang="en-US" sz="2400" b="1" dirty="0"/>
              <a:t>Scrum Master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Helps the team follow Scrum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Removes obstacles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Supports communication and teamwork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6DD18C2-C3E3-A6C4-91D5-D2F455DB2E6F}"/>
              </a:ext>
            </a:extLst>
          </p:cNvPr>
          <p:cNvSpPr txBox="1"/>
          <p:nvPr/>
        </p:nvSpPr>
        <p:spPr>
          <a:xfrm>
            <a:off x="7667271" y="4372005"/>
            <a:ext cx="353361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200000"/>
              </a:lnSpc>
            </a:pPr>
            <a:r>
              <a:rPr lang="en-US" sz="2400" b="1" dirty="0"/>
              <a:t>Development Team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Builds and tests the product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Completes Sprint work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Works together to meet requirements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5D2D7BEE-F0C5-D8C4-98E7-A36150333F19}"/>
              </a:ext>
            </a:extLst>
          </p:cNvPr>
          <p:cNvSpPr/>
          <p:nvPr/>
        </p:nvSpPr>
        <p:spPr>
          <a:xfrm>
            <a:off x="4467069" y="156085"/>
            <a:ext cx="7003635" cy="1968476"/>
          </a:xfrm>
          <a:prstGeom prst="roundRect">
            <a:avLst/>
          </a:prstGeom>
          <a:noFill/>
          <a:ln w="6667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040E7B2B-667E-A5B0-8545-49827EDA0A5E}"/>
              </a:ext>
            </a:extLst>
          </p:cNvPr>
          <p:cNvSpPr/>
          <p:nvPr/>
        </p:nvSpPr>
        <p:spPr>
          <a:xfrm>
            <a:off x="4467069" y="2309015"/>
            <a:ext cx="7003635" cy="1968476"/>
          </a:xfrm>
          <a:prstGeom prst="roundRect">
            <a:avLst/>
          </a:prstGeom>
          <a:noFill/>
          <a:ln w="66675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66A7C064-DBAB-9084-10FF-601703BBE990}"/>
              </a:ext>
            </a:extLst>
          </p:cNvPr>
          <p:cNvSpPr/>
          <p:nvPr/>
        </p:nvSpPr>
        <p:spPr>
          <a:xfrm>
            <a:off x="4467068" y="4462216"/>
            <a:ext cx="7003635" cy="1968476"/>
          </a:xfrm>
          <a:prstGeom prst="roundRect">
            <a:avLst/>
          </a:prstGeom>
          <a:noFill/>
          <a:ln w="666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8815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6C7647B-1B7C-451C-BF93-AE54B33DFC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5257" y="0"/>
            <a:ext cx="6858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6424A9F-6365-C854-DCE3-59155FAF7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563" y="-147137"/>
            <a:ext cx="3563963" cy="1325563"/>
          </a:xfrm>
        </p:spPr>
        <p:txBody>
          <a:bodyPr/>
          <a:lstStyle/>
          <a:p>
            <a:r>
              <a:rPr lang="en-US" b="1" dirty="0"/>
              <a:t>Agile Phases</a:t>
            </a:r>
            <a:endParaRPr lang="en-US" dirty="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A776D8A2-AC8F-79D7-8C03-44754474BABA}"/>
              </a:ext>
            </a:extLst>
          </p:cNvPr>
          <p:cNvGrpSpPr/>
          <p:nvPr/>
        </p:nvGrpSpPr>
        <p:grpSpPr>
          <a:xfrm>
            <a:off x="6226118" y="5298284"/>
            <a:ext cx="4523015" cy="1024964"/>
            <a:chOff x="7668985" y="138744"/>
            <a:chExt cx="4523015" cy="1024964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7706D290-ACCD-625A-79A5-8309DB622A26}"/>
                </a:ext>
              </a:extLst>
            </p:cNvPr>
            <p:cNvSpPr/>
            <p:nvPr/>
          </p:nvSpPr>
          <p:spPr>
            <a:xfrm>
              <a:off x="8139412" y="138744"/>
              <a:ext cx="3799997" cy="1024964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accent1">
                  <a:shade val="15000"/>
                  <a:alpha val="0"/>
                </a:schemeClr>
              </a:solidFill>
            </a:ln>
            <a:effectLst>
              <a:outerShdw blurRad="114300" dist="101600" algn="l" rotWithShape="0">
                <a:schemeClr val="bg1">
                  <a:lumMod val="65000"/>
                  <a:alpha val="9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32711F8F-959B-A992-9CC8-D66D367D1DB8}"/>
                </a:ext>
              </a:extLst>
            </p:cNvPr>
            <p:cNvSpPr/>
            <p:nvPr/>
          </p:nvSpPr>
          <p:spPr>
            <a:xfrm>
              <a:off x="7668985" y="387966"/>
              <a:ext cx="730993" cy="77574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accent1">
                  <a:shade val="15000"/>
                  <a:alpha val="0"/>
                </a:schemeClr>
              </a:solidFill>
            </a:ln>
            <a:effectLst>
              <a:outerShdw dist="38100" sx="108000" sy="108000" algn="l" rotWithShape="0">
                <a:schemeClr val="tx2">
                  <a:lumMod val="75000"/>
                  <a:lumOff val="2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43CA7B2-05ED-C402-6250-1D8C030F97F6}"/>
                </a:ext>
              </a:extLst>
            </p:cNvPr>
            <p:cNvSpPr txBox="1"/>
            <p:nvPr/>
          </p:nvSpPr>
          <p:spPr>
            <a:xfrm>
              <a:off x="8521736" y="279527"/>
              <a:ext cx="3670264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rgbClr val="00202E"/>
                  </a:solidFill>
                </a:rPr>
                <a:t>Deploy</a:t>
              </a:r>
            </a:p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en-US" dirty="0">
                  <a:solidFill>
                    <a:srgbClr val="00202E"/>
                  </a:solidFill>
                </a:rPr>
                <a:t>Deliver the working product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C091C985-426F-673B-5DAC-A9414AA6614F}"/>
              </a:ext>
            </a:extLst>
          </p:cNvPr>
          <p:cNvGrpSpPr/>
          <p:nvPr/>
        </p:nvGrpSpPr>
        <p:grpSpPr>
          <a:xfrm>
            <a:off x="6855674" y="246394"/>
            <a:ext cx="4523015" cy="1540155"/>
            <a:chOff x="7668985" y="138743"/>
            <a:chExt cx="4523015" cy="1540155"/>
          </a:xfrm>
        </p:grpSpPr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02DBC652-2070-0BF1-C074-93D04E3D73B1}"/>
                </a:ext>
              </a:extLst>
            </p:cNvPr>
            <p:cNvSpPr/>
            <p:nvPr/>
          </p:nvSpPr>
          <p:spPr>
            <a:xfrm>
              <a:off x="8139412" y="138743"/>
              <a:ext cx="3799997" cy="1540155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accent1">
                  <a:shade val="15000"/>
                  <a:alpha val="0"/>
                </a:schemeClr>
              </a:solidFill>
            </a:ln>
            <a:effectLst>
              <a:outerShdw blurRad="114300" dist="101600" algn="l" rotWithShape="0">
                <a:schemeClr val="bg1">
                  <a:lumMod val="65000"/>
                  <a:alpha val="9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7E839CB6-3BB3-C863-FC2D-873326595AB1}"/>
                </a:ext>
              </a:extLst>
            </p:cNvPr>
            <p:cNvGrpSpPr/>
            <p:nvPr/>
          </p:nvGrpSpPr>
          <p:grpSpPr>
            <a:xfrm>
              <a:off x="7668985" y="387966"/>
              <a:ext cx="730993" cy="775741"/>
              <a:chOff x="9956588" y="2751501"/>
              <a:chExt cx="730993" cy="775741"/>
            </a:xfrm>
            <a:effectLst>
              <a:outerShdw dist="38100" sx="108000" sy="108000" algn="l" rotWithShape="0">
                <a:schemeClr val="accent4">
                  <a:lumMod val="75000"/>
                </a:schemeClr>
              </a:outerShdw>
            </a:effectLst>
          </p:grpSpPr>
          <p:sp>
            <p:nvSpPr>
              <p:cNvPr id="38" name="Rectangle: Rounded Corners 37">
                <a:extLst>
                  <a:ext uri="{FF2B5EF4-FFF2-40B4-BE49-F238E27FC236}">
                    <a16:creationId xmlns:a16="http://schemas.microsoft.com/office/drawing/2014/main" id="{EEAEF0C4-50D3-0E33-6E44-E831A0D86944}"/>
                  </a:ext>
                </a:extLst>
              </p:cNvPr>
              <p:cNvSpPr/>
              <p:nvPr/>
            </p:nvSpPr>
            <p:spPr>
              <a:xfrm>
                <a:off x="9956588" y="2751501"/>
                <a:ext cx="730993" cy="775741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accent1">
                    <a:shade val="15000"/>
                    <a:alpha val="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39" name="Picture 38">
                <a:extLst>
                  <a:ext uri="{FF2B5EF4-FFF2-40B4-BE49-F238E27FC236}">
                    <a16:creationId xmlns:a16="http://schemas.microsoft.com/office/drawing/2014/main" id="{C28A38C5-05EE-26ED-909E-F07E08398B5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078346" y="2879725"/>
                <a:ext cx="549275" cy="549275"/>
              </a:xfrm>
              <a:prstGeom prst="rect">
                <a:avLst/>
              </a:prstGeom>
            </p:spPr>
          </p:pic>
        </p:grp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2C0E1144-E8A1-606B-58EF-50F60685F250}"/>
                </a:ext>
              </a:extLst>
            </p:cNvPr>
            <p:cNvSpPr txBox="1"/>
            <p:nvPr/>
          </p:nvSpPr>
          <p:spPr>
            <a:xfrm>
              <a:off x="8521736" y="279527"/>
              <a:ext cx="3670264" cy="12926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rgbClr val="00202E"/>
                  </a:solidFill>
                </a:rPr>
                <a:t>Plan &amp; Design</a:t>
              </a:r>
            </a:p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en-US" dirty="0">
                  <a:solidFill>
                    <a:srgbClr val="00202E"/>
                  </a:solidFill>
                </a:rPr>
                <a:t>Define goals and user needs</a:t>
              </a:r>
            </a:p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en-US" dirty="0">
                  <a:solidFill>
                    <a:srgbClr val="00202E"/>
                  </a:solidFill>
                </a:rPr>
                <a:t>Create the structure and interface</a:t>
              </a:r>
            </a:p>
          </p:txBody>
        </p:sp>
      </p:grpSp>
      <p:pic>
        <p:nvPicPr>
          <p:cNvPr id="41" name="Picture 40">
            <a:extLst>
              <a:ext uri="{FF2B5EF4-FFF2-40B4-BE49-F238E27FC236}">
                <a16:creationId xmlns:a16="http://schemas.microsoft.com/office/drawing/2014/main" id="{EE4C5153-52EA-87CC-2101-2EFE0EDA80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2681" y="5613161"/>
            <a:ext cx="644430" cy="644430"/>
          </a:xfrm>
          <a:prstGeom prst="rect">
            <a:avLst/>
          </a:prstGeom>
        </p:spPr>
      </p:pic>
      <p:grpSp>
        <p:nvGrpSpPr>
          <p:cNvPr id="42" name="Group 41">
            <a:extLst>
              <a:ext uri="{FF2B5EF4-FFF2-40B4-BE49-F238E27FC236}">
                <a16:creationId xmlns:a16="http://schemas.microsoft.com/office/drawing/2014/main" id="{B5033CB0-6DC7-FD42-5806-32B15D083F1A}"/>
              </a:ext>
            </a:extLst>
          </p:cNvPr>
          <p:cNvGrpSpPr/>
          <p:nvPr/>
        </p:nvGrpSpPr>
        <p:grpSpPr>
          <a:xfrm>
            <a:off x="7683924" y="2615227"/>
            <a:ext cx="4660476" cy="1540155"/>
            <a:chOff x="8065381" y="2640489"/>
            <a:chExt cx="4660476" cy="1540155"/>
          </a:xfrm>
        </p:grpSpPr>
        <p:sp>
          <p:nvSpPr>
            <p:cNvPr id="43" name="Rectangle: Rounded Corners 42">
              <a:extLst>
                <a:ext uri="{FF2B5EF4-FFF2-40B4-BE49-F238E27FC236}">
                  <a16:creationId xmlns:a16="http://schemas.microsoft.com/office/drawing/2014/main" id="{F96AD397-B32F-E244-F21B-AC22519C585F}"/>
                </a:ext>
              </a:extLst>
            </p:cNvPr>
            <p:cNvSpPr/>
            <p:nvPr/>
          </p:nvSpPr>
          <p:spPr>
            <a:xfrm>
              <a:off x="8673269" y="2640489"/>
              <a:ext cx="3799997" cy="1540155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accent1">
                  <a:shade val="15000"/>
                  <a:alpha val="0"/>
                </a:schemeClr>
              </a:solidFill>
            </a:ln>
            <a:effectLst>
              <a:outerShdw blurRad="114300" dist="101600" algn="l" rotWithShape="0">
                <a:schemeClr val="bg1">
                  <a:lumMod val="65000"/>
                  <a:alpha val="9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D5F2F9CA-92DC-F481-257D-640005763402}"/>
                </a:ext>
              </a:extLst>
            </p:cNvPr>
            <p:cNvSpPr txBox="1"/>
            <p:nvPr/>
          </p:nvSpPr>
          <p:spPr>
            <a:xfrm>
              <a:off x="9055593" y="2781273"/>
              <a:ext cx="3670264" cy="12926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rgbClr val="002B3E"/>
                  </a:solidFill>
                </a:rPr>
                <a:t>Develop &amp; Test</a:t>
              </a:r>
            </a:p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en-US" dirty="0">
                  <a:solidFill>
                    <a:srgbClr val="002B3E"/>
                  </a:solidFill>
                </a:rPr>
                <a:t>Build the features</a:t>
              </a:r>
            </a:p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en-US" dirty="0">
                  <a:solidFill>
                    <a:srgbClr val="002B3E"/>
                  </a:solidFill>
                </a:rPr>
                <a:t>Check that the features work correctly</a:t>
              </a:r>
            </a:p>
          </p:txBody>
        </p: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227A7670-D5D9-D1F0-36B0-EF3EADA26D3A}"/>
                </a:ext>
              </a:extLst>
            </p:cNvPr>
            <p:cNvGrpSpPr/>
            <p:nvPr/>
          </p:nvGrpSpPr>
          <p:grpSpPr>
            <a:xfrm>
              <a:off x="8065381" y="3013023"/>
              <a:ext cx="853768" cy="840125"/>
              <a:chOff x="10238281" y="5306517"/>
              <a:chExt cx="685407" cy="670230"/>
            </a:xfrm>
          </p:grpSpPr>
          <p:sp>
            <p:nvSpPr>
              <p:cNvPr id="46" name="Rectangle: Rounded Corners 45">
                <a:extLst>
                  <a:ext uri="{FF2B5EF4-FFF2-40B4-BE49-F238E27FC236}">
                    <a16:creationId xmlns:a16="http://schemas.microsoft.com/office/drawing/2014/main" id="{CCC71CE8-5F96-9FF5-E3F1-996F6641FE7A}"/>
                  </a:ext>
                </a:extLst>
              </p:cNvPr>
              <p:cNvSpPr/>
              <p:nvPr/>
            </p:nvSpPr>
            <p:spPr>
              <a:xfrm>
                <a:off x="10238281" y="5306517"/>
                <a:ext cx="685407" cy="670230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dist="63500" sx="105000" sy="105000" algn="l" rotWithShape="0">
                  <a:srgbClr val="0AB296"/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47" name="Picture 46">
                <a:extLst>
                  <a:ext uri="{FF2B5EF4-FFF2-40B4-BE49-F238E27FC236}">
                    <a16:creationId xmlns:a16="http://schemas.microsoft.com/office/drawing/2014/main" id="{D4650634-3EA1-D851-6EF8-9831F01B39F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313419" y="5351488"/>
                <a:ext cx="565299" cy="565299"/>
              </a:xfrm>
              <a:prstGeom prst="rect">
                <a:avLst/>
              </a:prstGeom>
            </p:spPr>
          </p:pic>
        </p:grp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D56F2DFE-1E72-5779-38B7-1F5981299A7B}"/>
              </a:ext>
            </a:extLst>
          </p:cNvPr>
          <p:cNvGrpSpPr/>
          <p:nvPr/>
        </p:nvGrpSpPr>
        <p:grpSpPr>
          <a:xfrm>
            <a:off x="0" y="5008262"/>
            <a:ext cx="4481235" cy="1078487"/>
            <a:chOff x="114539" y="5179104"/>
            <a:chExt cx="4614895" cy="1078487"/>
          </a:xfrm>
        </p:grpSpPr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58196B87-1060-651E-1A0E-C3419ACA65A0}"/>
                </a:ext>
              </a:extLst>
            </p:cNvPr>
            <p:cNvSpPr/>
            <p:nvPr/>
          </p:nvSpPr>
          <p:spPr>
            <a:xfrm>
              <a:off x="676846" y="5179104"/>
              <a:ext cx="3799997" cy="1078487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accent1">
                  <a:shade val="15000"/>
                  <a:alpha val="0"/>
                </a:schemeClr>
              </a:solidFill>
            </a:ln>
            <a:effectLst>
              <a:outerShdw blurRad="114300" dist="101600" algn="l" rotWithShape="0">
                <a:schemeClr val="bg1">
                  <a:lumMod val="65000"/>
                  <a:alpha val="9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07574E97-4094-E4F5-C45E-2B0AE3DAD88C}"/>
                </a:ext>
              </a:extLst>
            </p:cNvPr>
            <p:cNvSpPr txBox="1"/>
            <p:nvPr/>
          </p:nvSpPr>
          <p:spPr>
            <a:xfrm>
              <a:off x="1059170" y="5179105"/>
              <a:ext cx="3670264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rgbClr val="00202E"/>
                  </a:solidFill>
                </a:rPr>
                <a:t>Review</a:t>
              </a:r>
            </a:p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en-US" dirty="0">
                  <a:solidFill>
                    <a:srgbClr val="00202E"/>
                  </a:solidFill>
                </a:rPr>
                <a:t>Collect feedback and identify improvements</a:t>
              </a:r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13F946DD-C59A-A051-B290-99734BA5CC4E}"/>
                </a:ext>
              </a:extLst>
            </p:cNvPr>
            <p:cNvSpPr/>
            <p:nvPr/>
          </p:nvSpPr>
          <p:spPr>
            <a:xfrm>
              <a:off x="114539" y="5313450"/>
              <a:ext cx="853768" cy="840125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dist="63500" sx="105000" sy="105000" algn="l" rotWithShape="0">
                <a:srgbClr val="0AB296"/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65D8A1F3-6149-438B-5F88-F4DC68269E1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83652" y="5447642"/>
              <a:ext cx="599429" cy="599429"/>
            </a:xfrm>
            <a:prstGeom prst="rect">
              <a:avLst/>
            </a:prstGeom>
          </p:spPr>
        </p:pic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6581BEB8-6553-52D7-D7C6-3859C8442F93}"/>
              </a:ext>
            </a:extLst>
          </p:cNvPr>
          <p:cNvGrpSpPr/>
          <p:nvPr/>
        </p:nvGrpSpPr>
        <p:grpSpPr>
          <a:xfrm>
            <a:off x="209185" y="1540811"/>
            <a:ext cx="3038234" cy="1325563"/>
            <a:chOff x="164215" y="1540811"/>
            <a:chExt cx="3038234" cy="1325563"/>
          </a:xfrm>
        </p:grpSpPr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EFCF21CC-163F-68E6-F739-FEA8F16DDDBC}"/>
                </a:ext>
              </a:extLst>
            </p:cNvPr>
            <p:cNvGrpSpPr/>
            <p:nvPr/>
          </p:nvGrpSpPr>
          <p:grpSpPr>
            <a:xfrm>
              <a:off x="164215" y="1540811"/>
              <a:ext cx="3038234" cy="1325563"/>
              <a:chOff x="7668985" y="138743"/>
              <a:chExt cx="3038234" cy="1325563"/>
            </a:xfrm>
          </p:grpSpPr>
          <p:sp>
            <p:nvSpPr>
              <p:cNvPr id="52" name="Rectangle: Rounded Corners 51">
                <a:extLst>
                  <a:ext uri="{FF2B5EF4-FFF2-40B4-BE49-F238E27FC236}">
                    <a16:creationId xmlns:a16="http://schemas.microsoft.com/office/drawing/2014/main" id="{8493C484-F1FF-A5D9-FA5B-D3EB3383F115}"/>
                  </a:ext>
                </a:extLst>
              </p:cNvPr>
              <p:cNvSpPr/>
              <p:nvPr/>
            </p:nvSpPr>
            <p:spPr>
              <a:xfrm>
                <a:off x="8139412" y="138743"/>
                <a:ext cx="2567807" cy="1325563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effectLst>
                <a:outerShdw blurRad="114300" dist="101600" algn="l" rotWithShape="0">
                  <a:schemeClr val="bg1">
                    <a:lumMod val="65000"/>
                    <a:alpha val="9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3" name="Rectangle: Rounded Corners 52">
                <a:extLst>
                  <a:ext uri="{FF2B5EF4-FFF2-40B4-BE49-F238E27FC236}">
                    <a16:creationId xmlns:a16="http://schemas.microsoft.com/office/drawing/2014/main" id="{693EF419-A716-DDC1-1047-88F823B30168}"/>
                  </a:ext>
                </a:extLst>
              </p:cNvPr>
              <p:cNvSpPr/>
              <p:nvPr/>
            </p:nvSpPr>
            <p:spPr>
              <a:xfrm>
                <a:off x="7668985" y="387966"/>
                <a:ext cx="730993" cy="775741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effectLst>
                <a:outerShdw dist="38100" sx="108000" sy="108000" algn="l" rotWithShape="0">
                  <a:schemeClr val="tx2">
                    <a:lumMod val="75000"/>
                    <a:lumOff val="2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DF309522-C597-C66B-4A51-617FEC87D418}"/>
                  </a:ext>
                </a:extLst>
              </p:cNvPr>
              <p:cNvSpPr txBox="1"/>
              <p:nvPr/>
            </p:nvSpPr>
            <p:spPr>
              <a:xfrm>
                <a:off x="8521736" y="279527"/>
                <a:ext cx="2185483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>
                    <a:solidFill>
                      <a:srgbClr val="00202E"/>
                    </a:solidFill>
                  </a:rPr>
                  <a:t>Launch</a:t>
                </a: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US" dirty="0">
                    <a:solidFill>
                      <a:srgbClr val="00202E"/>
                    </a:solidFill>
                  </a:rPr>
                  <a:t>Release the product to users</a:t>
                </a:r>
              </a:p>
            </p:txBody>
          </p:sp>
        </p:grpSp>
        <p:pic>
          <p:nvPicPr>
            <p:cNvPr id="56" name="Picture 55">
              <a:extLst>
                <a:ext uri="{FF2B5EF4-FFF2-40B4-BE49-F238E27FC236}">
                  <a16:creationId xmlns:a16="http://schemas.microsoft.com/office/drawing/2014/main" id="{3662C6CE-3715-5BC6-9018-6F23CC6DA0F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27228" y="1892381"/>
              <a:ext cx="569116" cy="56911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658561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" name="Group 124">
            <a:extLst>
              <a:ext uri="{FF2B5EF4-FFF2-40B4-BE49-F238E27FC236}">
                <a16:creationId xmlns:a16="http://schemas.microsoft.com/office/drawing/2014/main" id="{179F2CD8-8A19-0143-9269-038FABEFCE66}"/>
              </a:ext>
            </a:extLst>
          </p:cNvPr>
          <p:cNvGrpSpPr/>
          <p:nvPr/>
        </p:nvGrpSpPr>
        <p:grpSpPr>
          <a:xfrm>
            <a:off x="353516" y="2533339"/>
            <a:ext cx="3468976" cy="4003021"/>
            <a:chOff x="338526" y="2533339"/>
            <a:chExt cx="3468976" cy="4050584"/>
          </a:xfrm>
        </p:grpSpPr>
        <p:sp>
          <p:nvSpPr>
            <p:cNvPr id="123" name="Rectangle: Rounded Corners 122">
              <a:extLst>
                <a:ext uri="{FF2B5EF4-FFF2-40B4-BE49-F238E27FC236}">
                  <a16:creationId xmlns:a16="http://schemas.microsoft.com/office/drawing/2014/main" id="{D62C2AED-4124-63A4-EB0F-A6D35AA0872A}"/>
                </a:ext>
              </a:extLst>
            </p:cNvPr>
            <p:cNvSpPr/>
            <p:nvPr/>
          </p:nvSpPr>
          <p:spPr>
            <a:xfrm>
              <a:off x="338526" y="2533339"/>
              <a:ext cx="67219" cy="3867462"/>
            </a:xfrm>
            <a:prstGeom prst="roundRect">
              <a:avLst>
                <a:gd name="adj" fmla="val 45572"/>
              </a:avLst>
            </a:prstGeom>
            <a:solidFill>
              <a:srgbClr val="8DB5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Rectangle: Rounded Corners 123">
              <a:extLst>
                <a:ext uri="{FF2B5EF4-FFF2-40B4-BE49-F238E27FC236}">
                  <a16:creationId xmlns:a16="http://schemas.microsoft.com/office/drawing/2014/main" id="{45BC6EC9-BD76-BEA1-CF70-D5E49C8A0132}"/>
                </a:ext>
              </a:extLst>
            </p:cNvPr>
            <p:cNvSpPr/>
            <p:nvPr/>
          </p:nvSpPr>
          <p:spPr>
            <a:xfrm>
              <a:off x="347584" y="5744115"/>
              <a:ext cx="3459918" cy="839808"/>
            </a:xfrm>
            <a:prstGeom prst="roundRect">
              <a:avLst>
                <a:gd name="adj" fmla="val 23892"/>
              </a:avLst>
            </a:prstGeom>
            <a:solidFill>
              <a:srgbClr val="8DB5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9" name="Freeform: Shape 118">
            <a:extLst>
              <a:ext uri="{FF2B5EF4-FFF2-40B4-BE49-F238E27FC236}">
                <a16:creationId xmlns:a16="http://schemas.microsoft.com/office/drawing/2014/main" id="{2129CA37-7B84-858D-6C68-D0390B5516A3}"/>
              </a:ext>
            </a:extLst>
          </p:cNvPr>
          <p:cNvSpPr/>
          <p:nvPr/>
        </p:nvSpPr>
        <p:spPr>
          <a:xfrm>
            <a:off x="329784" y="2533338"/>
            <a:ext cx="5771213" cy="3972393"/>
          </a:xfrm>
          <a:custGeom>
            <a:avLst/>
            <a:gdLst>
              <a:gd name="csX0" fmla="*/ 59960 w 5771213"/>
              <a:gd name="csY0" fmla="*/ 0 h 3972393"/>
              <a:gd name="csX1" fmla="*/ 254832 w 5771213"/>
              <a:gd name="csY1" fmla="*/ 74951 h 3972393"/>
              <a:gd name="csX2" fmla="*/ 509665 w 5771213"/>
              <a:gd name="csY2" fmla="*/ 209862 h 3972393"/>
              <a:gd name="csX3" fmla="*/ 659567 w 5771213"/>
              <a:gd name="csY3" fmla="*/ 344773 h 3972393"/>
              <a:gd name="csX4" fmla="*/ 719527 w 5771213"/>
              <a:gd name="csY4" fmla="*/ 434714 h 3972393"/>
              <a:gd name="csX5" fmla="*/ 824459 w 5771213"/>
              <a:gd name="csY5" fmla="*/ 554636 h 3972393"/>
              <a:gd name="csX6" fmla="*/ 1274164 w 5771213"/>
              <a:gd name="csY6" fmla="*/ 1139252 h 3972393"/>
              <a:gd name="csX7" fmla="*/ 1514006 w 5771213"/>
              <a:gd name="csY7" fmla="*/ 1304144 h 3972393"/>
              <a:gd name="csX8" fmla="*/ 1768839 w 5771213"/>
              <a:gd name="csY8" fmla="*/ 1424065 h 3972393"/>
              <a:gd name="csX9" fmla="*/ 2038662 w 5771213"/>
              <a:gd name="csY9" fmla="*/ 1499016 h 3972393"/>
              <a:gd name="csX10" fmla="*/ 2263514 w 5771213"/>
              <a:gd name="csY10" fmla="*/ 1514006 h 3972393"/>
              <a:gd name="csX11" fmla="*/ 2443396 w 5771213"/>
              <a:gd name="csY11" fmla="*/ 1528996 h 3972393"/>
              <a:gd name="csX12" fmla="*/ 2593298 w 5771213"/>
              <a:gd name="csY12" fmla="*/ 1588957 h 3972393"/>
              <a:gd name="csX13" fmla="*/ 3147934 w 5771213"/>
              <a:gd name="csY13" fmla="*/ 1978701 h 3972393"/>
              <a:gd name="csX14" fmla="*/ 3522688 w 5771213"/>
              <a:gd name="csY14" fmla="*/ 2383436 h 3972393"/>
              <a:gd name="csX15" fmla="*/ 3687580 w 5771213"/>
              <a:gd name="csY15" fmla="*/ 2488367 h 3972393"/>
              <a:gd name="csX16" fmla="*/ 4287186 w 5771213"/>
              <a:gd name="csY16" fmla="*/ 2638269 h 3972393"/>
              <a:gd name="csX17" fmla="*/ 5021705 w 5771213"/>
              <a:gd name="csY17" fmla="*/ 2773180 h 3972393"/>
              <a:gd name="csX18" fmla="*/ 5336498 w 5771213"/>
              <a:gd name="csY18" fmla="*/ 2938072 h 3972393"/>
              <a:gd name="csX19" fmla="*/ 5546360 w 5771213"/>
              <a:gd name="csY19" fmla="*/ 3102964 h 3972393"/>
              <a:gd name="csX20" fmla="*/ 5591331 w 5771213"/>
              <a:gd name="csY20" fmla="*/ 3162924 h 3972393"/>
              <a:gd name="csX21" fmla="*/ 5666282 w 5771213"/>
              <a:gd name="csY21" fmla="*/ 3387777 h 3972393"/>
              <a:gd name="csX22" fmla="*/ 5696262 w 5771213"/>
              <a:gd name="csY22" fmla="*/ 3537678 h 3972393"/>
              <a:gd name="csX23" fmla="*/ 5711252 w 5771213"/>
              <a:gd name="csY23" fmla="*/ 3612629 h 3972393"/>
              <a:gd name="csX24" fmla="*/ 5726242 w 5771213"/>
              <a:gd name="csY24" fmla="*/ 3777521 h 3972393"/>
              <a:gd name="csX25" fmla="*/ 5756223 w 5771213"/>
              <a:gd name="csY25" fmla="*/ 3807501 h 3972393"/>
              <a:gd name="csX26" fmla="*/ 5771213 w 5771213"/>
              <a:gd name="csY26" fmla="*/ 3867462 h 3972393"/>
              <a:gd name="csX27" fmla="*/ 5741232 w 5771213"/>
              <a:gd name="csY27" fmla="*/ 3927423 h 3972393"/>
              <a:gd name="csX28" fmla="*/ 5561350 w 5771213"/>
              <a:gd name="csY28" fmla="*/ 3897442 h 3972393"/>
              <a:gd name="csX29" fmla="*/ 5261547 w 5771213"/>
              <a:gd name="csY29" fmla="*/ 3822492 h 3972393"/>
              <a:gd name="csX30" fmla="*/ 5171606 w 5771213"/>
              <a:gd name="csY30" fmla="*/ 3807501 h 3972393"/>
              <a:gd name="csX31" fmla="*/ 5111646 w 5771213"/>
              <a:gd name="csY31" fmla="*/ 3852472 h 3972393"/>
              <a:gd name="csX32" fmla="*/ 5066675 w 5771213"/>
              <a:gd name="csY32" fmla="*/ 3882452 h 3972393"/>
              <a:gd name="csX33" fmla="*/ 4796852 w 5771213"/>
              <a:gd name="csY33" fmla="*/ 3942413 h 3972393"/>
              <a:gd name="csX34" fmla="*/ 4676931 w 5771213"/>
              <a:gd name="csY34" fmla="*/ 3972393 h 3972393"/>
              <a:gd name="csX35" fmla="*/ 3792511 w 5771213"/>
              <a:gd name="csY35" fmla="*/ 3957403 h 3972393"/>
              <a:gd name="csX36" fmla="*/ 3117954 w 5771213"/>
              <a:gd name="csY36" fmla="*/ 3852472 h 3972393"/>
              <a:gd name="csX37" fmla="*/ 2833141 w 5771213"/>
              <a:gd name="csY37" fmla="*/ 3837482 h 3972393"/>
              <a:gd name="csX38" fmla="*/ 2653259 w 5771213"/>
              <a:gd name="csY38" fmla="*/ 3822492 h 3972393"/>
              <a:gd name="csX39" fmla="*/ 2383436 w 5771213"/>
              <a:gd name="csY39" fmla="*/ 3837482 h 3972393"/>
              <a:gd name="csX40" fmla="*/ 2218544 w 5771213"/>
              <a:gd name="csY40" fmla="*/ 3867462 h 3972393"/>
              <a:gd name="csX41" fmla="*/ 2083632 w 5771213"/>
              <a:gd name="csY41" fmla="*/ 3882452 h 3972393"/>
              <a:gd name="csX42" fmla="*/ 1948721 w 5771213"/>
              <a:gd name="csY42" fmla="*/ 3912432 h 3972393"/>
              <a:gd name="csX43" fmla="*/ 1334124 w 5771213"/>
              <a:gd name="csY43" fmla="*/ 3912432 h 3972393"/>
              <a:gd name="csX44" fmla="*/ 1199213 w 5771213"/>
              <a:gd name="csY44" fmla="*/ 3897442 h 3972393"/>
              <a:gd name="csX45" fmla="*/ 869429 w 5771213"/>
              <a:gd name="csY45" fmla="*/ 3867462 h 3972393"/>
              <a:gd name="csX46" fmla="*/ 149901 w 5771213"/>
              <a:gd name="csY46" fmla="*/ 3882452 h 3972393"/>
              <a:gd name="csX47" fmla="*/ 74950 w 5771213"/>
              <a:gd name="csY47" fmla="*/ 3867462 h 3972393"/>
              <a:gd name="csX48" fmla="*/ 44970 w 5771213"/>
              <a:gd name="csY48" fmla="*/ 3612629 h 3972393"/>
              <a:gd name="csX49" fmla="*/ 29980 w 5771213"/>
              <a:gd name="csY49" fmla="*/ 3522688 h 3972393"/>
              <a:gd name="csX50" fmla="*/ 0 w 5771213"/>
              <a:gd name="csY50" fmla="*/ 3072983 h 3972393"/>
              <a:gd name="csX51" fmla="*/ 14990 w 5771213"/>
              <a:gd name="csY51" fmla="*/ 2443396 h 3972393"/>
              <a:gd name="csX52" fmla="*/ 29980 w 5771213"/>
              <a:gd name="csY52" fmla="*/ 2293495 h 3972393"/>
              <a:gd name="csX53" fmla="*/ 44970 w 5771213"/>
              <a:gd name="csY53" fmla="*/ 1319134 h 3972393"/>
              <a:gd name="csX54" fmla="*/ 74950 w 5771213"/>
              <a:gd name="csY54" fmla="*/ 734518 h 3972393"/>
              <a:gd name="csX55" fmla="*/ 89941 w 5771213"/>
              <a:gd name="csY55" fmla="*/ 599606 h 3972393"/>
              <a:gd name="csX56" fmla="*/ 59960 w 5771213"/>
              <a:gd name="csY56" fmla="*/ 89941 h 397239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</a:cxnLst>
            <a:rect l="l" t="t" r="r" b="b"/>
            <a:pathLst>
              <a:path w="5771213" h="3972393">
                <a:moveTo>
                  <a:pt x="59960" y="0"/>
                </a:moveTo>
                <a:cubicBezTo>
                  <a:pt x="124917" y="24984"/>
                  <a:pt x="192583" y="43827"/>
                  <a:pt x="254832" y="74951"/>
                </a:cubicBezTo>
                <a:cubicBezTo>
                  <a:pt x="420767" y="157917"/>
                  <a:pt x="335686" y="113206"/>
                  <a:pt x="509665" y="209862"/>
                </a:cubicBezTo>
                <a:cubicBezTo>
                  <a:pt x="730144" y="485460"/>
                  <a:pt x="387582" y="72788"/>
                  <a:pt x="659567" y="344773"/>
                </a:cubicBezTo>
                <a:cubicBezTo>
                  <a:pt x="685045" y="370251"/>
                  <a:pt x="697266" y="406382"/>
                  <a:pt x="719527" y="434714"/>
                </a:cubicBezTo>
                <a:cubicBezTo>
                  <a:pt x="752343" y="476480"/>
                  <a:pt x="792784" y="511997"/>
                  <a:pt x="824459" y="554636"/>
                </a:cubicBezTo>
                <a:cubicBezTo>
                  <a:pt x="935264" y="703797"/>
                  <a:pt x="1106679" y="996579"/>
                  <a:pt x="1274164" y="1139252"/>
                </a:cubicBezTo>
                <a:cubicBezTo>
                  <a:pt x="1348019" y="1202165"/>
                  <a:pt x="1429927" y="1255735"/>
                  <a:pt x="1514006" y="1304144"/>
                </a:cubicBezTo>
                <a:cubicBezTo>
                  <a:pt x="1595364" y="1350987"/>
                  <a:pt x="1680834" y="1391377"/>
                  <a:pt x="1768839" y="1424065"/>
                </a:cubicBezTo>
                <a:cubicBezTo>
                  <a:pt x="1856344" y="1456567"/>
                  <a:pt x="1946821" y="1482318"/>
                  <a:pt x="2038662" y="1499016"/>
                </a:cubicBezTo>
                <a:cubicBezTo>
                  <a:pt x="2112567" y="1512453"/>
                  <a:pt x="2188602" y="1508457"/>
                  <a:pt x="2263514" y="1514006"/>
                </a:cubicBezTo>
                <a:lnTo>
                  <a:pt x="2443396" y="1528996"/>
                </a:lnTo>
                <a:cubicBezTo>
                  <a:pt x="2493363" y="1548983"/>
                  <a:pt x="2544709" y="1565819"/>
                  <a:pt x="2593298" y="1588957"/>
                </a:cubicBezTo>
                <a:cubicBezTo>
                  <a:pt x="2774503" y="1675245"/>
                  <a:pt x="3042554" y="1855758"/>
                  <a:pt x="3147934" y="1978701"/>
                </a:cubicBezTo>
                <a:cubicBezTo>
                  <a:pt x="3257206" y="2106185"/>
                  <a:pt x="3392676" y="2275093"/>
                  <a:pt x="3522688" y="2383436"/>
                </a:cubicBezTo>
                <a:cubicBezTo>
                  <a:pt x="3572737" y="2425144"/>
                  <a:pt x="3629309" y="2459231"/>
                  <a:pt x="3687580" y="2488367"/>
                </a:cubicBezTo>
                <a:cubicBezTo>
                  <a:pt x="3922834" y="2605994"/>
                  <a:pt x="4000495" y="2595796"/>
                  <a:pt x="4287186" y="2638269"/>
                </a:cubicBezTo>
                <a:cubicBezTo>
                  <a:pt x="4594394" y="2683781"/>
                  <a:pt x="4741645" y="2682838"/>
                  <a:pt x="5021705" y="2773180"/>
                </a:cubicBezTo>
                <a:cubicBezTo>
                  <a:pt x="5099022" y="2798121"/>
                  <a:pt x="5270546" y="2888608"/>
                  <a:pt x="5336498" y="2938072"/>
                </a:cubicBezTo>
                <a:cubicBezTo>
                  <a:pt x="5706327" y="3215443"/>
                  <a:pt x="5116363" y="2834215"/>
                  <a:pt x="5546360" y="3102964"/>
                </a:cubicBezTo>
                <a:cubicBezTo>
                  <a:pt x="5561350" y="3122951"/>
                  <a:pt x="5580158" y="3140578"/>
                  <a:pt x="5591331" y="3162924"/>
                </a:cubicBezTo>
                <a:cubicBezTo>
                  <a:pt x="5615645" y="3211552"/>
                  <a:pt x="5653056" y="3331566"/>
                  <a:pt x="5666282" y="3387777"/>
                </a:cubicBezTo>
                <a:cubicBezTo>
                  <a:pt x="5677953" y="3437379"/>
                  <a:pt x="5686269" y="3487711"/>
                  <a:pt x="5696262" y="3537678"/>
                </a:cubicBezTo>
                <a:lnTo>
                  <a:pt x="5711252" y="3612629"/>
                </a:lnTo>
                <a:cubicBezTo>
                  <a:pt x="5716249" y="3667593"/>
                  <a:pt x="5713832" y="3723744"/>
                  <a:pt x="5726242" y="3777521"/>
                </a:cubicBezTo>
                <a:cubicBezTo>
                  <a:pt x="5729420" y="3791292"/>
                  <a:pt x="5749902" y="3794860"/>
                  <a:pt x="5756223" y="3807501"/>
                </a:cubicBezTo>
                <a:cubicBezTo>
                  <a:pt x="5765437" y="3825928"/>
                  <a:pt x="5766216" y="3847475"/>
                  <a:pt x="5771213" y="3867462"/>
                </a:cubicBezTo>
                <a:cubicBezTo>
                  <a:pt x="5761219" y="3887449"/>
                  <a:pt x="5762432" y="3920357"/>
                  <a:pt x="5741232" y="3927423"/>
                </a:cubicBezTo>
                <a:cubicBezTo>
                  <a:pt x="5727289" y="3932070"/>
                  <a:pt x="5587146" y="3902601"/>
                  <a:pt x="5561350" y="3897442"/>
                </a:cubicBezTo>
                <a:cubicBezTo>
                  <a:pt x="5444905" y="3819812"/>
                  <a:pt x="5532708" y="3869651"/>
                  <a:pt x="5261547" y="3822492"/>
                </a:cubicBezTo>
                <a:lnTo>
                  <a:pt x="5171606" y="3807501"/>
                </a:lnTo>
                <a:cubicBezTo>
                  <a:pt x="5151619" y="3822491"/>
                  <a:pt x="5131976" y="3837951"/>
                  <a:pt x="5111646" y="3852472"/>
                </a:cubicBezTo>
                <a:cubicBezTo>
                  <a:pt x="5096986" y="3862944"/>
                  <a:pt x="5083998" y="3877503"/>
                  <a:pt x="5066675" y="3882452"/>
                </a:cubicBezTo>
                <a:cubicBezTo>
                  <a:pt x="4978085" y="3907763"/>
                  <a:pt x="4886236" y="3920067"/>
                  <a:pt x="4796852" y="3942413"/>
                </a:cubicBezTo>
                <a:lnTo>
                  <a:pt x="4676931" y="3972393"/>
                </a:lnTo>
                <a:cubicBezTo>
                  <a:pt x="4382124" y="3967396"/>
                  <a:pt x="4086992" y="3972127"/>
                  <a:pt x="3792511" y="3957403"/>
                </a:cubicBezTo>
                <a:cubicBezTo>
                  <a:pt x="3659270" y="3950741"/>
                  <a:pt x="3235994" y="3866197"/>
                  <a:pt x="3117954" y="3852472"/>
                </a:cubicBezTo>
                <a:cubicBezTo>
                  <a:pt x="3023521" y="3841492"/>
                  <a:pt x="2928013" y="3843603"/>
                  <a:pt x="2833141" y="3837482"/>
                </a:cubicBezTo>
                <a:cubicBezTo>
                  <a:pt x="2773097" y="3833608"/>
                  <a:pt x="2713220" y="3827489"/>
                  <a:pt x="2653259" y="3822492"/>
                </a:cubicBezTo>
                <a:cubicBezTo>
                  <a:pt x="2563318" y="3827489"/>
                  <a:pt x="2473038" y="3828213"/>
                  <a:pt x="2383436" y="3837482"/>
                </a:cubicBezTo>
                <a:cubicBezTo>
                  <a:pt x="2327867" y="3843230"/>
                  <a:pt x="2273791" y="3859175"/>
                  <a:pt x="2218544" y="3867462"/>
                </a:cubicBezTo>
                <a:cubicBezTo>
                  <a:pt x="2173797" y="3874174"/>
                  <a:pt x="2128603" y="3877455"/>
                  <a:pt x="2083632" y="3882452"/>
                </a:cubicBezTo>
                <a:cubicBezTo>
                  <a:pt x="2038662" y="3892445"/>
                  <a:pt x="1994401" y="3906474"/>
                  <a:pt x="1948721" y="3912432"/>
                </a:cubicBezTo>
                <a:cubicBezTo>
                  <a:pt x="1725578" y="3941538"/>
                  <a:pt x="1575287" y="3921364"/>
                  <a:pt x="1334124" y="3912432"/>
                </a:cubicBezTo>
                <a:lnTo>
                  <a:pt x="1199213" y="3897442"/>
                </a:lnTo>
                <a:lnTo>
                  <a:pt x="869429" y="3867462"/>
                </a:lnTo>
                <a:cubicBezTo>
                  <a:pt x="629586" y="3872459"/>
                  <a:pt x="389796" y="3882452"/>
                  <a:pt x="149901" y="3882452"/>
                </a:cubicBezTo>
                <a:cubicBezTo>
                  <a:pt x="124423" y="3882452"/>
                  <a:pt x="84185" y="3891208"/>
                  <a:pt x="74950" y="3867462"/>
                </a:cubicBezTo>
                <a:cubicBezTo>
                  <a:pt x="43950" y="3787747"/>
                  <a:pt x="56032" y="3697441"/>
                  <a:pt x="44970" y="3612629"/>
                </a:cubicBezTo>
                <a:cubicBezTo>
                  <a:pt x="41039" y="3582490"/>
                  <a:pt x="33531" y="3552874"/>
                  <a:pt x="29980" y="3522688"/>
                </a:cubicBezTo>
                <a:cubicBezTo>
                  <a:pt x="12001" y="3369867"/>
                  <a:pt x="8213" y="3229027"/>
                  <a:pt x="0" y="3072983"/>
                </a:cubicBezTo>
                <a:cubicBezTo>
                  <a:pt x="4997" y="2863121"/>
                  <a:pt x="6922" y="2653163"/>
                  <a:pt x="14990" y="2443396"/>
                </a:cubicBezTo>
                <a:cubicBezTo>
                  <a:pt x="16920" y="2393217"/>
                  <a:pt x="28641" y="2343693"/>
                  <a:pt x="29980" y="2293495"/>
                </a:cubicBezTo>
                <a:cubicBezTo>
                  <a:pt x="38639" y="1968785"/>
                  <a:pt x="37590" y="1643876"/>
                  <a:pt x="44970" y="1319134"/>
                </a:cubicBezTo>
                <a:cubicBezTo>
                  <a:pt x="47590" y="1203873"/>
                  <a:pt x="63822" y="873620"/>
                  <a:pt x="74950" y="734518"/>
                </a:cubicBezTo>
                <a:cubicBezTo>
                  <a:pt x="78558" y="689415"/>
                  <a:pt x="84944" y="644577"/>
                  <a:pt x="89941" y="599606"/>
                </a:cubicBezTo>
                <a:cubicBezTo>
                  <a:pt x="74072" y="139429"/>
                  <a:pt x="103385" y="307067"/>
                  <a:pt x="59960" y="89941"/>
                </a:cubicBezTo>
              </a:path>
            </a:pathLst>
          </a:custGeom>
          <a:solidFill>
            <a:srgbClr val="8DB5C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Arrow: Circular 113">
            <a:extLst>
              <a:ext uri="{FF2B5EF4-FFF2-40B4-BE49-F238E27FC236}">
                <a16:creationId xmlns:a16="http://schemas.microsoft.com/office/drawing/2014/main" id="{77C00424-4455-9B55-4477-ED620CC4B37E}"/>
              </a:ext>
            </a:extLst>
          </p:cNvPr>
          <p:cNvSpPr/>
          <p:nvPr/>
        </p:nvSpPr>
        <p:spPr>
          <a:xfrm rot="19216158">
            <a:off x="9796476" y="2167383"/>
            <a:ext cx="1560369" cy="1615221"/>
          </a:xfrm>
          <a:prstGeom prst="circularArrow">
            <a:avLst>
              <a:gd name="adj1" fmla="val 9665"/>
              <a:gd name="adj2" fmla="val 1136187"/>
              <a:gd name="adj3" fmla="val 8200774"/>
              <a:gd name="adj4" fmla="val 10800000"/>
              <a:gd name="adj5" fmla="val 14069"/>
            </a:avLst>
          </a:prstGeom>
          <a:solidFill>
            <a:srgbClr val="15628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8D7F09-9781-B2AE-929E-81EC98FAF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5303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solidFill>
                  <a:schemeClr val="accent1">
                    <a:lumMod val="50000"/>
                  </a:schemeClr>
                </a:solidFill>
              </a:rPr>
              <a:t>Waterfall vs Agile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847E2A8-4314-2C61-3798-3E3D01145A58}"/>
              </a:ext>
            </a:extLst>
          </p:cNvPr>
          <p:cNvSpPr/>
          <p:nvPr/>
        </p:nvSpPr>
        <p:spPr>
          <a:xfrm>
            <a:off x="338528" y="1465836"/>
            <a:ext cx="5717498" cy="5084866"/>
          </a:xfrm>
          <a:prstGeom prst="roundRect">
            <a:avLst>
              <a:gd name="adj" fmla="val 4580"/>
            </a:avLst>
          </a:prstGeom>
          <a:noFill/>
          <a:ln w="34925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46143395-24F9-E4E6-1993-5EFB7F237764}"/>
              </a:ext>
            </a:extLst>
          </p:cNvPr>
          <p:cNvGrpSpPr/>
          <p:nvPr/>
        </p:nvGrpSpPr>
        <p:grpSpPr>
          <a:xfrm>
            <a:off x="435966" y="2715908"/>
            <a:ext cx="5522622" cy="2522545"/>
            <a:chOff x="438466" y="1647492"/>
            <a:chExt cx="5522622" cy="2522545"/>
          </a:xfrm>
        </p:grpSpPr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C30A8F8D-39C1-778B-0D5D-E06438EF076F}"/>
                </a:ext>
              </a:extLst>
            </p:cNvPr>
            <p:cNvSpPr/>
            <p:nvPr/>
          </p:nvSpPr>
          <p:spPr>
            <a:xfrm>
              <a:off x="2340967" y="2711650"/>
              <a:ext cx="1902501" cy="384900"/>
            </a:xfrm>
            <a:prstGeom prst="roundRect">
              <a:avLst>
                <a:gd name="adj" fmla="val 50000"/>
              </a:avLst>
            </a:prstGeom>
            <a:solidFill>
              <a:srgbClr val="15628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Implementation</a:t>
              </a:r>
            </a:p>
          </p:txBody>
        </p:sp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BB445D06-55E5-BF52-46EA-351C33592156}"/>
                </a:ext>
              </a:extLst>
            </p:cNvPr>
            <p:cNvSpPr/>
            <p:nvPr/>
          </p:nvSpPr>
          <p:spPr>
            <a:xfrm>
              <a:off x="438466" y="1647492"/>
              <a:ext cx="1902501" cy="384900"/>
            </a:xfrm>
            <a:prstGeom prst="roundRect">
              <a:avLst>
                <a:gd name="adj" fmla="val 50000"/>
              </a:avLst>
            </a:prstGeom>
            <a:solidFill>
              <a:srgbClr val="56B8E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Analysis</a:t>
              </a:r>
            </a:p>
          </p:txBody>
        </p:sp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73D20FF7-03A2-FAE8-1949-8CA40E49139F}"/>
                </a:ext>
              </a:extLst>
            </p:cNvPr>
            <p:cNvSpPr/>
            <p:nvPr/>
          </p:nvSpPr>
          <p:spPr>
            <a:xfrm>
              <a:off x="1204836" y="2179571"/>
              <a:ext cx="1902501" cy="384900"/>
            </a:xfrm>
            <a:prstGeom prst="roundRect">
              <a:avLst>
                <a:gd name="adj" fmla="val 50000"/>
              </a:avLst>
            </a:prstGeom>
            <a:solidFill>
              <a:srgbClr val="1E8BB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Design</a:t>
              </a:r>
            </a:p>
          </p:txBody>
        </p: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A8394762-94F3-EF72-EFF2-AA12D2047422}"/>
                </a:ext>
              </a:extLst>
            </p:cNvPr>
            <p:cNvSpPr/>
            <p:nvPr/>
          </p:nvSpPr>
          <p:spPr>
            <a:xfrm>
              <a:off x="3107337" y="3251511"/>
              <a:ext cx="1902501" cy="384900"/>
            </a:xfrm>
            <a:prstGeom prst="roundRect">
              <a:avLst>
                <a:gd name="adj" fmla="val 50000"/>
              </a:avLst>
            </a:prstGeom>
            <a:solidFill>
              <a:srgbClr val="0D384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Testing</a:t>
              </a:r>
            </a:p>
          </p:txBody>
        </p:sp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2F434477-E159-5CCC-3E88-5423643789CF}"/>
                </a:ext>
              </a:extLst>
            </p:cNvPr>
            <p:cNvSpPr/>
            <p:nvPr/>
          </p:nvSpPr>
          <p:spPr>
            <a:xfrm>
              <a:off x="4058587" y="3785137"/>
              <a:ext cx="1902501" cy="384900"/>
            </a:xfrm>
            <a:prstGeom prst="roundRect">
              <a:avLst>
                <a:gd name="adj" fmla="val 50000"/>
              </a:avLst>
            </a:prstGeom>
            <a:solidFill>
              <a:srgbClr val="00151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Maintenance</a:t>
              </a:r>
            </a:p>
          </p:txBody>
        </p:sp>
        <p:pic>
          <p:nvPicPr>
            <p:cNvPr id="35" name="Graphic 34" descr="Research with solid fill">
              <a:extLst>
                <a:ext uri="{FF2B5EF4-FFF2-40B4-BE49-F238E27FC236}">
                  <a16:creationId xmlns:a16="http://schemas.microsoft.com/office/drawing/2014/main" id="{08BB8F81-6411-1A38-30AB-290C20AF70E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85790" y="1647492"/>
              <a:ext cx="384900" cy="384900"/>
            </a:xfrm>
            <a:prstGeom prst="rect">
              <a:avLst/>
            </a:prstGeom>
          </p:spPr>
        </p:pic>
        <p:pic>
          <p:nvPicPr>
            <p:cNvPr id="37" name="Graphic 36" descr="Architecture with solid fill">
              <a:extLst>
                <a:ext uri="{FF2B5EF4-FFF2-40B4-BE49-F238E27FC236}">
                  <a16:creationId xmlns:a16="http://schemas.microsoft.com/office/drawing/2014/main" id="{B30B37AC-2449-31E7-831E-5F8D66746C6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389716" y="2179571"/>
              <a:ext cx="384900" cy="384900"/>
            </a:xfrm>
            <a:prstGeom prst="rect">
              <a:avLst/>
            </a:prstGeom>
          </p:spPr>
        </p:pic>
        <p:pic>
          <p:nvPicPr>
            <p:cNvPr id="39" name="Graphic 38" descr="Clipboard Mixed with solid fill">
              <a:extLst>
                <a:ext uri="{FF2B5EF4-FFF2-40B4-BE49-F238E27FC236}">
                  <a16:creationId xmlns:a16="http://schemas.microsoft.com/office/drawing/2014/main" id="{F14D42B4-8260-CB11-1211-B95771F0DCB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292217" y="3243729"/>
              <a:ext cx="384900" cy="384900"/>
            </a:xfrm>
            <a:prstGeom prst="rect">
              <a:avLst/>
            </a:prstGeom>
          </p:spPr>
        </p:pic>
        <p:cxnSp>
          <p:nvCxnSpPr>
            <p:cNvPr id="45" name="Connector: Elbow 44">
              <a:extLst>
                <a:ext uri="{FF2B5EF4-FFF2-40B4-BE49-F238E27FC236}">
                  <a16:creationId xmlns:a16="http://schemas.microsoft.com/office/drawing/2014/main" id="{267578D0-CA3B-2087-8DE8-101E77C86215}"/>
                </a:ext>
              </a:extLst>
            </p:cNvPr>
            <p:cNvCxnSpPr/>
            <p:nvPr/>
          </p:nvCxnSpPr>
          <p:spPr>
            <a:xfrm rot="16200000" flipH="1">
              <a:off x="2345890" y="1877548"/>
              <a:ext cx="384900" cy="192450"/>
            </a:xfrm>
            <a:prstGeom prst="bentConnector3">
              <a:avLst>
                <a:gd name="adj1" fmla="val 42211"/>
              </a:avLst>
            </a:prstGeom>
            <a:ln w="38100">
              <a:solidFill>
                <a:srgbClr val="56B8E4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Connector: Elbow 46">
              <a:extLst>
                <a:ext uri="{FF2B5EF4-FFF2-40B4-BE49-F238E27FC236}">
                  <a16:creationId xmlns:a16="http://schemas.microsoft.com/office/drawing/2014/main" id="{108B4507-D6F5-02BA-A19B-92F8EE82A7E2}"/>
                </a:ext>
              </a:extLst>
            </p:cNvPr>
            <p:cNvCxnSpPr/>
            <p:nvPr/>
          </p:nvCxnSpPr>
          <p:spPr>
            <a:xfrm rot="16200000" flipH="1">
              <a:off x="3114758" y="2419084"/>
              <a:ext cx="384900" cy="192450"/>
            </a:xfrm>
            <a:prstGeom prst="bentConnector3">
              <a:avLst>
                <a:gd name="adj1" fmla="val 42211"/>
              </a:avLst>
            </a:prstGeom>
            <a:ln w="38100">
              <a:solidFill>
                <a:srgbClr val="1E8BBC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Connector: Elbow 47">
              <a:extLst>
                <a:ext uri="{FF2B5EF4-FFF2-40B4-BE49-F238E27FC236}">
                  <a16:creationId xmlns:a16="http://schemas.microsoft.com/office/drawing/2014/main" id="{FED66A0D-DFB3-562E-CE06-B4607DB8FC99}"/>
                </a:ext>
              </a:extLst>
            </p:cNvPr>
            <p:cNvCxnSpPr/>
            <p:nvPr/>
          </p:nvCxnSpPr>
          <p:spPr>
            <a:xfrm rot="16200000" flipH="1">
              <a:off x="4250888" y="2955054"/>
              <a:ext cx="384900" cy="192450"/>
            </a:xfrm>
            <a:prstGeom prst="bentConnector3">
              <a:avLst>
                <a:gd name="adj1" fmla="val 42211"/>
              </a:avLst>
            </a:prstGeom>
            <a:ln w="38100">
              <a:solidFill>
                <a:srgbClr val="156285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Connector: Elbow 48">
              <a:extLst>
                <a:ext uri="{FF2B5EF4-FFF2-40B4-BE49-F238E27FC236}">
                  <a16:creationId xmlns:a16="http://schemas.microsoft.com/office/drawing/2014/main" id="{0BFDA965-66E3-0DB3-1B56-409779A9D3CC}"/>
                </a:ext>
              </a:extLst>
            </p:cNvPr>
            <p:cNvCxnSpPr/>
            <p:nvPr/>
          </p:nvCxnSpPr>
          <p:spPr>
            <a:xfrm rot="16200000" flipH="1">
              <a:off x="5002268" y="3512154"/>
              <a:ext cx="384900" cy="192450"/>
            </a:xfrm>
            <a:prstGeom prst="bentConnector3">
              <a:avLst>
                <a:gd name="adj1" fmla="val 42211"/>
              </a:avLst>
            </a:prstGeom>
            <a:ln w="38100">
              <a:solidFill>
                <a:srgbClr val="0D384B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nector: Elbow 49">
              <a:extLst>
                <a:ext uri="{FF2B5EF4-FFF2-40B4-BE49-F238E27FC236}">
                  <a16:creationId xmlns:a16="http://schemas.microsoft.com/office/drawing/2014/main" id="{3D41D292-B84C-4E84-1E36-A012485FC93F}"/>
                </a:ext>
              </a:extLst>
            </p:cNvPr>
            <p:cNvCxnSpPr>
              <a:cxnSpLocks/>
              <a:endCxn id="29" idx="1"/>
            </p:cNvCxnSpPr>
            <p:nvPr/>
          </p:nvCxnSpPr>
          <p:spPr>
            <a:xfrm rot="16200000" flipH="1">
              <a:off x="824970" y="1992155"/>
              <a:ext cx="398564" cy="361168"/>
            </a:xfrm>
            <a:prstGeom prst="bentConnector2">
              <a:avLst/>
            </a:prstGeom>
            <a:ln w="38100">
              <a:solidFill>
                <a:srgbClr val="56B8E4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Connector: Elbow 53">
              <a:extLst>
                <a:ext uri="{FF2B5EF4-FFF2-40B4-BE49-F238E27FC236}">
                  <a16:creationId xmlns:a16="http://schemas.microsoft.com/office/drawing/2014/main" id="{A6C4884D-C87F-A608-5D0B-AEEB947750D0}"/>
                </a:ext>
              </a:extLst>
            </p:cNvPr>
            <p:cNvCxnSpPr>
              <a:cxnSpLocks/>
            </p:cNvCxnSpPr>
            <p:nvPr/>
          </p:nvCxnSpPr>
          <p:spPr>
            <a:xfrm>
              <a:off x="1661644" y="2538687"/>
              <a:ext cx="679323" cy="350423"/>
            </a:xfrm>
            <a:prstGeom prst="bentConnector3">
              <a:avLst>
                <a:gd name="adj1" fmla="val 50001"/>
              </a:avLst>
            </a:prstGeom>
            <a:ln w="38100">
              <a:solidFill>
                <a:srgbClr val="1E8BBC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Connector: Elbow 56">
              <a:extLst>
                <a:ext uri="{FF2B5EF4-FFF2-40B4-BE49-F238E27FC236}">
                  <a16:creationId xmlns:a16="http://schemas.microsoft.com/office/drawing/2014/main" id="{430DC8B5-EC02-212E-E847-27CCD166B926}"/>
                </a:ext>
              </a:extLst>
            </p:cNvPr>
            <p:cNvCxnSpPr>
              <a:cxnSpLocks/>
            </p:cNvCxnSpPr>
            <p:nvPr/>
          </p:nvCxnSpPr>
          <p:spPr>
            <a:xfrm>
              <a:off x="2527134" y="3051279"/>
              <a:ext cx="580203" cy="437179"/>
            </a:xfrm>
            <a:prstGeom prst="bentConnector3">
              <a:avLst>
                <a:gd name="adj1" fmla="val 42249"/>
              </a:avLst>
            </a:prstGeom>
            <a:ln w="38100">
              <a:solidFill>
                <a:srgbClr val="156285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Connector: Elbow 63">
              <a:extLst>
                <a:ext uri="{FF2B5EF4-FFF2-40B4-BE49-F238E27FC236}">
                  <a16:creationId xmlns:a16="http://schemas.microsoft.com/office/drawing/2014/main" id="{96D20284-5789-FD7C-0596-9A4D34B55341}"/>
                </a:ext>
              </a:extLst>
            </p:cNvPr>
            <p:cNvCxnSpPr>
              <a:cxnSpLocks/>
              <a:endCxn id="33" idx="1"/>
            </p:cNvCxnSpPr>
            <p:nvPr/>
          </p:nvCxnSpPr>
          <p:spPr>
            <a:xfrm>
              <a:off x="3578821" y="3611149"/>
              <a:ext cx="479766" cy="366438"/>
            </a:xfrm>
            <a:prstGeom prst="bentConnector3">
              <a:avLst>
                <a:gd name="adj1" fmla="val 15631"/>
              </a:avLst>
            </a:prstGeom>
            <a:ln w="38100">
              <a:solidFill>
                <a:srgbClr val="0D384B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TextBox 75">
            <a:extLst>
              <a:ext uri="{FF2B5EF4-FFF2-40B4-BE49-F238E27FC236}">
                <a16:creationId xmlns:a16="http://schemas.microsoft.com/office/drawing/2014/main" id="{A028B52B-C1E1-7AA8-5FEA-FD971AFC46BE}"/>
              </a:ext>
            </a:extLst>
          </p:cNvPr>
          <p:cNvSpPr txBox="1"/>
          <p:nvPr/>
        </p:nvSpPr>
        <p:spPr>
          <a:xfrm>
            <a:off x="338526" y="1570899"/>
            <a:ext cx="57174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114B65"/>
                </a:solidFill>
                <a:ea typeface="ADLaM Display" panose="020F0502020204030204" pitchFamily="2" charset="0"/>
                <a:cs typeface="ADLaM Display" panose="020F0502020204030204" pitchFamily="2" charset="0"/>
              </a:rPr>
              <a:t>Waterfall Model</a:t>
            </a:r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946BC520-01AE-C8AE-323F-B067B6C0FBF6}"/>
              </a:ext>
            </a:extLst>
          </p:cNvPr>
          <p:cNvCxnSpPr>
            <a:cxnSpLocks/>
          </p:cNvCxnSpPr>
          <p:nvPr/>
        </p:nvCxnSpPr>
        <p:spPr>
          <a:xfrm>
            <a:off x="537812" y="2263515"/>
            <a:ext cx="5248391" cy="0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5" name="Group 84">
            <a:extLst>
              <a:ext uri="{FF2B5EF4-FFF2-40B4-BE49-F238E27FC236}">
                <a16:creationId xmlns:a16="http://schemas.microsoft.com/office/drawing/2014/main" id="{8E55240A-CEC2-B0B5-F937-F640EC327137}"/>
              </a:ext>
            </a:extLst>
          </p:cNvPr>
          <p:cNvGrpSpPr/>
          <p:nvPr/>
        </p:nvGrpSpPr>
        <p:grpSpPr>
          <a:xfrm>
            <a:off x="6126916" y="1442351"/>
            <a:ext cx="5717500" cy="5084866"/>
            <a:chOff x="490926" y="1618236"/>
            <a:chExt cx="5717500" cy="5084866"/>
          </a:xfrm>
        </p:grpSpPr>
        <p:sp>
          <p:nvSpPr>
            <p:cNvPr id="82" name="Rectangle: Rounded Corners 81">
              <a:extLst>
                <a:ext uri="{FF2B5EF4-FFF2-40B4-BE49-F238E27FC236}">
                  <a16:creationId xmlns:a16="http://schemas.microsoft.com/office/drawing/2014/main" id="{F1C5F066-F88C-DC88-325A-FA43FFD46F63}"/>
                </a:ext>
              </a:extLst>
            </p:cNvPr>
            <p:cNvSpPr/>
            <p:nvPr/>
          </p:nvSpPr>
          <p:spPr>
            <a:xfrm>
              <a:off x="490928" y="1618236"/>
              <a:ext cx="5717498" cy="5084866"/>
            </a:xfrm>
            <a:prstGeom prst="roundRect">
              <a:avLst>
                <a:gd name="adj" fmla="val 4580"/>
              </a:avLst>
            </a:prstGeom>
            <a:noFill/>
            <a:ln w="34925">
              <a:solidFill>
                <a:srgbClr val="0AB29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C8A8B94D-EC12-FB13-3290-EF867B9943C1}"/>
                </a:ext>
              </a:extLst>
            </p:cNvPr>
            <p:cNvSpPr txBox="1"/>
            <p:nvPr/>
          </p:nvSpPr>
          <p:spPr>
            <a:xfrm>
              <a:off x="490926" y="1723299"/>
              <a:ext cx="571749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077B68"/>
                  </a:solidFill>
                  <a:ea typeface="ADLaM Display" panose="020F0502020204030204" pitchFamily="2" charset="0"/>
                  <a:cs typeface="ADLaM Display" panose="020F0502020204030204" pitchFamily="2" charset="0"/>
                </a:rPr>
                <a:t>Agile Model</a:t>
              </a:r>
            </a:p>
          </p:txBody>
        </p: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FB4F0AE0-EAF7-DA2E-F975-F7EA989CC4A6}"/>
                </a:ext>
              </a:extLst>
            </p:cNvPr>
            <p:cNvCxnSpPr>
              <a:cxnSpLocks/>
            </p:cNvCxnSpPr>
            <p:nvPr/>
          </p:nvCxnSpPr>
          <p:spPr>
            <a:xfrm>
              <a:off x="690212" y="2415915"/>
              <a:ext cx="5248391" cy="0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6" name="Circle: Hollow 85">
            <a:extLst>
              <a:ext uri="{FF2B5EF4-FFF2-40B4-BE49-F238E27FC236}">
                <a16:creationId xmlns:a16="http://schemas.microsoft.com/office/drawing/2014/main" id="{BBC2D23E-EEC5-3F61-5D4A-4CA1B76D595E}"/>
              </a:ext>
            </a:extLst>
          </p:cNvPr>
          <p:cNvSpPr/>
          <p:nvPr/>
        </p:nvSpPr>
        <p:spPr>
          <a:xfrm>
            <a:off x="7573951" y="2395469"/>
            <a:ext cx="2704073" cy="2664243"/>
          </a:xfrm>
          <a:prstGeom prst="donut">
            <a:avLst>
              <a:gd name="adj" fmla="val 17473"/>
            </a:avLst>
          </a:prstGeom>
          <a:gradFill>
            <a:gsLst>
              <a:gs pos="0">
                <a:srgbClr val="6CCAC1"/>
              </a:gs>
              <a:gs pos="55000">
                <a:srgbClr val="0AB296"/>
              </a:gs>
              <a:gs pos="100000">
                <a:srgbClr val="114B65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2" name="Arrow: Chevron 111">
            <a:extLst>
              <a:ext uri="{FF2B5EF4-FFF2-40B4-BE49-F238E27FC236}">
                <a16:creationId xmlns:a16="http://schemas.microsoft.com/office/drawing/2014/main" id="{5D1888FA-7336-AA5C-EE2D-59F30B240032}"/>
              </a:ext>
            </a:extLst>
          </p:cNvPr>
          <p:cNvSpPr/>
          <p:nvPr/>
        </p:nvSpPr>
        <p:spPr>
          <a:xfrm>
            <a:off x="8771715" y="4524387"/>
            <a:ext cx="374895" cy="576251"/>
          </a:xfrm>
          <a:prstGeom prst="chevron">
            <a:avLst>
              <a:gd name="adj" fmla="val 6999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DCD9FE14-3CF3-E381-C528-7B414C8CE198}"/>
              </a:ext>
            </a:extLst>
          </p:cNvPr>
          <p:cNvSpPr txBox="1"/>
          <p:nvPr/>
        </p:nvSpPr>
        <p:spPr>
          <a:xfrm>
            <a:off x="8419358" y="3491782"/>
            <a:ext cx="11942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151E"/>
                </a:solidFill>
              </a:rPr>
              <a:t>Sprint</a:t>
            </a:r>
          </a:p>
        </p:txBody>
      </p:sp>
      <p:sp>
        <p:nvSpPr>
          <p:cNvPr id="99" name="Arrow: Chevron 98">
            <a:extLst>
              <a:ext uri="{FF2B5EF4-FFF2-40B4-BE49-F238E27FC236}">
                <a16:creationId xmlns:a16="http://schemas.microsoft.com/office/drawing/2014/main" id="{9B159D4C-956B-E84F-7C58-434E5AA6F4D6}"/>
              </a:ext>
            </a:extLst>
          </p:cNvPr>
          <p:cNvSpPr/>
          <p:nvPr/>
        </p:nvSpPr>
        <p:spPr>
          <a:xfrm rot="15648331">
            <a:off x="9842854" y="3224956"/>
            <a:ext cx="374895" cy="576251"/>
          </a:xfrm>
          <a:prstGeom prst="chevron">
            <a:avLst>
              <a:gd name="adj" fmla="val 6999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1" name="Arrow: Chevron 100">
            <a:extLst>
              <a:ext uri="{FF2B5EF4-FFF2-40B4-BE49-F238E27FC236}">
                <a16:creationId xmlns:a16="http://schemas.microsoft.com/office/drawing/2014/main" id="{7F510178-0996-9E73-D52B-223A4750F6D6}"/>
              </a:ext>
            </a:extLst>
          </p:cNvPr>
          <p:cNvSpPr/>
          <p:nvPr/>
        </p:nvSpPr>
        <p:spPr>
          <a:xfrm rot="10800000">
            <a:off x="8749188" y="2350993"/>
            <a:ext cx="374895" cy="576251"/>
          </a:xfrm>
          <a:prstGeom prst="chevron">
            <a:avLst>
              <a:gd name="adj" fmla="val 6999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3" name="Arrow: Chevron 102">
            <a:extLst>
              <a:ext uri="{FF2B5EF4-FFF2-40B4-BE49-F238E27FC236}">
                <a16:creationId xmlns:a16="http://schemas.microsoft.com/office/drawing/2014/main" id="{3579F09E-1AD8-4D4A-961A-C309887937FC}"/>
              </a:ext>
            </a:extLst>
          </p:cNvPr>
          <p:cNvSpPr/>
          <p:nvPr/>
        </p:nvSpPr>
        <p:spPr>
          <a:xfrm rot="5803071">
            <a:off x="7633001" y="3397192"/>
            <a:ext cx="374895" cy="576251"/>
          </a:xfrm>
          <a:prstGeom prst="chevron">
            <a:avLst>
              <a:gd name="adj" fmla="val 6999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24EE82C8-2F30-1718-EDB7-1F46D7BDE968}"/>
              </a:ext>
            </a:extLst>
          </p:cNvPr>
          <p:cNvSpPr txBox="1"/>
          <p:nvPr/>
        </p:nvSpPr>
        <p:spPr>
          <a:xfrm>
            <a:off x="9194975" y="2580998"/>
            <a:ext cx="1428747" cy="400110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Test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5E495614-E6C7-F4C1-AEEE-58DEAB041261}"/>
              </a:ext>
            </a:extLst>
          </p:cNvPr>
          <p:cNvSpPr txBox="1"/>
          <p:nvPr/>
        </p:nvSpPr>
        <p:spPr>
          <a:xfrm>
            <a:off x="9504794" y="4008269"/>
            <a:ext cx="1428747" cy="400110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61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Develop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BAF9BD35-C40B-6B6D-92E7-C254C39CBDA3}"/>
              </a:ext>
            </a:extLst>
          </p:cNvPr>
          <p:cNvSpPr txBox="1"/>
          <p:nvPr/>
        </p:nvSpPr>
        <p:spPr>
          <a:xfrm>
            <a:off x="7496177" y="2866111"/>
            <a:ext cx="1428747" cy="400110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61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Deploy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2306816C-F323-3227-A5E3-7B86FF66C28D}"/>
              </a:ext>
            </a:extLst>
          </p:cNvPr>
          <p:cNvSpPr txBox="1"/>
          <p:nvPr/>
        </p:nvSpPr>
        <p:spPr>
          <a:xfrm>
            <a:off x="7279456" y="4007728"/>
            <a:ext cx="1428747" cy="400110"/>
          </a:xfrm>
          <a:prstGeom prst="rect">
            <a:avLst/>
          </a:prstGeom>
          <a:noFill/>
          <a:effectLst>
            <a:outerShdw blurRad="38100" dist="38100" algn="l" rotWithShape="0">
              <a:prstClr val="black">
                <a:alpha val="74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Review</a:t>
            </a:r>
          </a:p>
        </p:txBody>
      </p: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8F59E936-2E1F-B47B-7E34-8722EE394AC2}"/>
              </a:ext>
            </a:extLst>
          </p:cNvPr>
          <p:cNvGrpSpPr/>
          <p:nvPr/>
        </p:nvGrpSpPr>
        <p:grpSpPr>
          <a:xfrm>
            <a:off x="6535791" y="4981719"/>
            <a:ext cx="5038801" cy="581312"/>
            <a:chOff x="6535791" y="5086649"/>
            <a:chExt cx="5038801" cy="581312"/>
          </a:xfrm>
        </p:grpSpPr>
        <p:sp>
          <p:nvSpPr>
            <p:cNvPr id="88" name="Arrow: Pentagon 87">
              <a:extLst>
                <a:ext uri="{FF2B5EF4-FFF2-40B4-BE49-F238E27FC236}">
                  <a16:creationId xmlns:a16="http://schemas.microsoft.com/office/drawing/2014/main" id="{402439E1-9562-4CFC-B245-A862C526C847}"/>
                </a:ext>
              </a:extLst>
            </p:cNvPr>
            <p:cNvSpPr/>
            <p:nvPr/>
          </p:nvSpPr>
          <p:spPr>
            <a:xfrm>
              <a:off x="6535791" y="5091710"/>
              <a:ext cx="5038801" cy="524895"/>
            </a:xfrm>
            <a:prstGeom prst="homePlate">
              <a:avLst/>
            </a:prstGeom>
            <a:gradFill>
              <a:gsLst>
                <a:gs pos="0">
                  <a:srgbClr val="6CCAC1"/>
                </a:gs>
                <a:gs pos="56000">
                  <a:srgbClr val="0AB296"/>
                </a:gs>
                <a:gs pos="95000">
                  <a:srgbClr val="125370"/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0" name="Arrow: Chevron 89">
              <a:extLst>
                <a:ext uri="{FF2B5EF4-FFF2-40B4-BE49-F238E27FC236}">
                  <a16:creationId xmlns:a16="http://schemas.microsoft.com/office/drawing/2014/main" id="{08C76CF4-DAF0-289A-404C-2EE50ECE24F5}"/>
                </a:ext>
              </a:extLst>
            </p:cNvPr>
            <p:cNvSpPr/>
            <p:nvPr/>
          </p:nvSpPr>
          <p:spPr>
            <a:xfrm>
              <a:off x="7704804" y="5091710"/>
              <a:ext cx="374895" cy="576251"/>
            </a:xfrm>
            <a:prstGeom prst="chevron">
              <a:avLst>
                <a:gd name="adj" fmla="val 69992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92F8BB5D-D24A-90C3-09BE-C84E40298F5C}"/>
                </a:ext>
              </a:extLst>
            </p:cNvPr>
            <p:cNvSpPr txBox="1"/>
            <p:nvPr/>
          </p:nvSpPr>
          <p:spPr>
            <a:xfrm>
              <a:off x="6753032" y="5119227"/>
              <a:ext cx="1050440" cy="461665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61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chemeClr val="bg1"/>
                  </a:solidFill>
                </a:rPr>
                <a:t>Plan</a:t>
              </a: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35FDF23B-033D-22DB-316D-C2838C880D06}"/>
                </a:ext>
              </a:extLst>
            </p:cNvPr>
            <p:cNvSpPr txBox="1"/>
            <p:nvPr/>
          </p:nvSpPr>
          <p:spPr>
            <a:xfrm>
              <a:off x="8210551" y="5123352"/>
              <a:ext cx="1323193" cy="461665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61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chemeClr val="bg1"/>
                  </a:solidFill>
                </a:rPr>
                <a:t>Design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6D4FFEBA-CF94-CA80-988B-76C8C987CCEA}"/>
                </a:ext>
              </a:extLst>
            </p:cNvPr>
            <p:cNvSpPr txBox="1"/>
            <p:nvPr/>
          </p:nvSpPr>
          <p:spPr>
            <a:xfrm>
              <a:off x="9925053" y="5123242"/>
              <a:ext cx="1323193" cy="461665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61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chemeClr val="bg1"/>
                  </a:solidFill>
                </a:rPr>
                <a:t>Launch</a:t>
              </a:r>
            </a:p>
          </p:txBody>
        </p:sp>
        <p:sp>
          <p:nvSpPr>
            <p:cNvPr id="97" name="Arrow: Chevron 96">
              <a:extLst>
                <a:ext uri="{FF2B5EF4-FFF2-40B4-BE49-F238E27FC236}">
                  <a16:creationId xmlns:a16="http://schemas.microsoft.com/office/drawing/2014/main" id="{C548F872-7F47-ABB6-F974-822149DD57F1}"/>
                </a:ext>
              </a:extLst>
            </p:cNvPr>
            <p:cNvSpPr/>
            <p:nvPr/>
          </p:nvSpPr>
          <p:spPr>
            <a:xfrm>
              <a:off x="9452250" y="5086649"/>
              <a:ext cx="374895" cy="576251"/>
            </a:xfrm>
            <a:prstGeom prst="chevron">
              <a:avLst>
                <a:gd name="adj" fmla="val 69992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115" name="TextBox 114">
            <a:extLst>
              <a:ext uri="{FF2B5EF4-FFF2-40B4-BE49-F238E27FC236}">
                <a16:creationId xmlns:a16="http://schemas.microsoft.com/office/drawing/2014/main" id="{EAE10462-85D6-F69F-B94E-5188777A0924}"/>
              </a:ext>
            </a:extLst>
          </p:cNvPr>
          <p:cNvSpPr txBox="1"/>
          <p:nvPr/>
        </p:nvSpPr>
        <p:spPr>
          <a:xfrm>
            <a:off x="10209888" y="2758770"/>
            <a:ext cx="998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151E"/>
                </a:solidFill>
              </a:rPr>
              <a:t>sprint</a:t>
            </a:r>
          </a:p>
        </p:txBody>
      </p:sp>
      <p:sp>
        <p:nvSpPr>
          <p:cNvPr id="116" name="Rectangle: Rounded Corners 115">
            <a:extLst>
              <a:ext uri="{FF2B5EF4-FFF2-40B4-BE49-F238E27FC236}">
                <a16:creationId xmlns:a16="http://schemas.microsoft.com/office/drawing/2014/main" id="{BABCEB93-35BE-514A-D764-7206AAAB6BFB}"/>
              </a:ext>
            </a:extLst>
          </p:cNvPr>
          <p:cNvSpPr/>
          <p:nvPr/>
        </p:nvSpPr>
        <p:spPr>
          <a:xfrm>
            <a:off x="3400933" y="5506591"/>
            <a:ext cx="5348255" cy="1046703"/>
          </a:xfrm>
          <a:prstGeom prst="roundRect">
            <a:avLst>
              <a:gd name="adj" fmla="val 3881"/>
            </a:avLst>
          </a:prstGeom>
          <a:solidFill>
            <a:schemeClr val="bg1">
              <a:lumMod val="95000"/>
            </a:schemeClr>
          </a:solidFill>
          <a:ln w="254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21275722-35A7-62E2-14EB-4B70F0AD3384}"/>
              </a:ext>
            </a:extLst>
          </p:cNvPr>
          <p:cNvSpPr txBox="1"/>
          <p:nvPr/>
        </p:nvSpPr>
        <p:spPr>
          <a:xfrm>
            <a:off x="3570590" y="5518469"/>
            <a:ext cx="503880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114B65"/>
                </a:solidFill>
              </a:rPr>
              <a:t>Waterfall follows a fixed plan,</a:t>
            </a:r>
          </a:p>
          <a:p>
            <a:pPr algn="ctr"/>
            <a:r>
              <a:rPr lang="en-US" sz="2000" b="1" dirty="0">
                <a:solidFill>
                  <a:srgbClr val="114B65"/>
                </a:solidFill>
              </a:rPr>
              <a:t>while Agile adapts continuously through feedback and iteration</a:t>
            </a:r>
          </a:p>
          <a:p>
            <a:endParaRPr lang="en-US" sz="2000" b="1" dirty="0">
              <a:solidFill>
                <a:srgbClr val="114B6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57242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D3A7DF3-01AC-5CCD-75A8-29294680275E}"/>
              </a:ext>
            </a:extLst>
          </p:cNvPr>
          <p:cNvSpPr txBox="1">
            <a:spLocks/>
          </p:cNvSpPr>
          <p:nvPr/>
        </p:nvSpPr>
        <p:spPr>
          <a:xfrm>
            <a:off x="26996" y="13780"/>
            <a:ext cx="8271867" cy="12721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b="1" dirty="0">
                <a:solidFill>
                  <a:schemeClr val="accent1">
                    <a:lumMod val="50000"/>
                  </a:schemeClr>
                </a:solidFill>
              </a:rPr>
              <a:t>Waterfall or Agile Approach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C6E20589-30F6-3FBF-ED13-0E5C918D8446}"/>
              </a:ext>
            </a:extLst>
          </p:cNvPr>
          <p:cNvGrpSpPr/>
          <p:nvPr/>
        </p:nvGrpSpPr>
        <p:grpSpPr>
          <a:xfrm>
            <a:off x="2898007" y="1204198"/>
            <a:ext cx="7126014" cy="6008580"/>
            <a:chOff x="4486964" y="244454"/>
            <a:chExt cx="7126014" cy="6008580"/>
          </a:xfrm>
        </p:grpSpPr>
        <p:pic>
          <p:nvPicPr>
            <p:cNvPr id="6" name="Graphic 5" descr="Scales of justice with solid fill">
              <a:extLst>
                <a:ext uri="{FF2B5EF4-FFF2-40B4-BE49-F238E27FC236}">
                  <a16:creationId xmlns:a16="http://schemas.microsoft.com/office/drawing/2014/main" id="{CDE08509-CADD-2FBE-18C8-55704BD8473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486964" y="244454"/>
              <a:ext cx="7126014" cy="6008580"/>
            </a:xfrm>
            <a:prstGeom prst="rect">
              <a:avLst/>
            </a:prstGeom>
          </p:spPr>
        </p:pic>
        <p:sp>
          <p:nvSpPr>
            <p:cNvPr id="17" name="Rectangle: Top Corners Rounded 16">
              <a:extLst>
                <a:ext uri="{FF2B5EF4-FFF2-40B4-BE49-F238E27FC236}">
                  <a16:creationId xmlns:a16="http://schemas.microsoft.com/office/drawing/2014/main" id="{D85F4181-E09B-E082-E17A-E36FFA2DCBDC}"/>
                </a:ext>
              </a:extLst>
            </p:cNvPr>
            <p:cNvSpPr/>
            <p:nvPr/>
          </p:nvSpPr>
          <p:spPr>
            <a:xfrm>
              <a:off x="5081660" y="2436461"/>
              <a:ext cx="1800415" cy="1358296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1E8BB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28673A08-9D3D-AD9A-F064-C9D66EEACA44}"/>
                </a:ext>
              </a:extLst>
            </p:cNvPr>
            <p:cNvGrpSpPr/>
            <p:nvPr/>
          </p:nvGrpSpPr>
          <p:grpSpPr>
            <a:xfrm>
              <a:off x="5411073" y="2499234"/>
              <a:ext cx="1266669" cy="1263310"/>
              <a:chOff x="3417387" y="2978918"/>
              <a:chExt cx="1266669" cy="1263310"/>
            </a:xfrm>
          </p:grpSpPr>
          <p:pic>
            <p:nvPicPr>
              <p:cNvPr id="11" name="Graphic 10" descr="Shower with solid fill">
                <a:extLst>
                  <a:ext uri="{FF2B5EF4-FFF2-40B4-BE49-F238E27FC236}">
                    <a16:creationId xmlns:a16="http://schemas.microsoft.com/office/drawing/2014/main" id="{DFC79A53-6E81-2062-177D-DF30756D9BC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3530183" y="2978918"/>
                <a:ext cx="914400" cy="914400"/>
              </a:xfrm>
              <a:prstGeom prst="rect">
                <a:avLst/>
              </a:prstGeom>
            </p:spPr>
          </p:pic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8FDC290-B6A0-194A-38F6-5EE0C1A08626}"/>
                  </a:ext>
                </a:extLst>
              </p:cNvPr>
              <p:cNvSpPr txBox="1"/>
              <p:nvPr/>
            </p:nvSpPr>
            <p:spPr>
              <a:xfrm>
                <a:off x="3417387" y="3872896"/>
                <a:ext cx="126666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solidFill>
                      <a:schemeClr val="bg1"/>
                    </a:solidFill>
                  </a:rPr>
                  <a:t>Waterfall</a:t>
                </a:r>
              </a:p>
            </p:txBody>
          </p:sp>
        </p:grpSp>
        <p:sp>
          <p:nvSpPr>
            <p:cNvPr id="20" name="Rectangle: Top Corners Rounded 19">
              <a:extLst>
                <a:ext uri="{FF2B5EF4-FFF2-40B4-BE49-F238E27FC236}">
                  <a16:creationId xmlns:a16="http://schemas.microsoft.com/office/drawing/2014/main" id="{989FC8D7-0BB3-19FC-B572-1042998FDF60}"/>
                </a:ext>
              </a:extLst>
            </p:cNvPr>
            <p:cNvSpPr/>
            <p:nvPr/>
          </p:nvSpPr>
          <p:spPr>
            <a:xfrm>
              <a:off x="9222349" y="2436461"/>
              <a:ext cx="1800415" cy="1358296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088A7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1976469-A188-986E-8FEA-EDB717573111}"/>
                </a:ext>
              </a:extLst>
            </p:cNvPr>
            <p:cNvSpPr txBox="1"/>
            <p:nvPr/>
          </p:nvSpPr>
          <p:spPr>
            <a:xfrm>
              <a:off x="9806849" y="3369496"/>
              <a:ext cx="12666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</a:rPr>
                <a:t>Agile</a:t>
              </a:r>
            </a:p>
          </p:txBody>
        </p: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8DDA7B48-BBA1-A6C4-56C0-5EAE571C9891}"/>
                </a:ext>
              </a:extLst>
            </p:cNvPr>
            <p:cNvGrpSpPr/>
            <p:nvPr/>
          </p:nvGrpSpPr>
          <p:grpSpPr>
            <a:xfrm>
              <a:off x="9616753" y="2514224"/>
              <a:ext cx="1041585" cy="931674"/>
              <a:chOff x="9601763" y="2499234"/>
              <a:chExt cx="1041585" cy="931674"/>
            </a:xfrm>
          </p:grpSpPr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2A6BB280-855C-4607-8DF5-37B99BB86F7B}"/>
                  </a:ext>
                </a:extLst>
              </p:cNvPr>
              <p:cNvGrpSpPr/>
              <p:nvPr/>
            </p:nvGrpSpPr>
            <p:grpSpPr>
              <a:xfrm>
                <a:off x="9601763" y="2499234"/>
                <a:ext cx="1041585" cy="931674"/>
                <a:chOff x="10220152" y="4648775"/>
                <a:chExt cx="1041585" cy="931674"/>
              </a:xfrm>
            </p:grpSpPr>
            <p:pic>
              <p:nvPicPr>
                <p:cNvPr id="23" name="Graphic 22" descr="Refresh with solid fill">
                  <a:extLst>
                    <a:ext uri="{FF2B5EF4-FFF2-40B4-BE49-F238E27FC236}">
                      <a16:creationId xmlns:a16="http://schemas.microsoft.com/office/drawing/2014/main" id="{4521CE66-D1E6-2E08-2B4C-5A1D777AC39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347337" y="4666049"/>
                  <a:ext cx="914400" cy="914400"/>
                </a:xfrm>
                <a:prstGeom prst="rect">
                  <a:avLst/>
                </a:prstGeom>
              </p:spPr>
            </p:pic>
            <p:pic>
              <p:nvPicPr>
                <p:cNvPr id="25" name="Graphic 24" descr="Refresh with solid fill">
                  <a:extLst>
                    <a:ext uri="{FF2B5EF4-FFF2-40B4-BE49-F238E27FC236}">
                      <a16:creationId xmlns:a16="http://schemas.microsoft.com/office/drawing/2014/main" id="{E9A82365-F533-4394-78CE-D7EFC368291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 rot="10971694">
                  <a:off x="10220152" y="4648775"/>
                  <a:ext cx="914400" cy="914400"/>
                </a:xfrm>
                <a:prstGeom prst="rect">
                  <a:avLst/>
                </a:prstGeom>
              </p:spPr>
            </p:pic>
          </p:grpSp>
          <p:sp>
            <p:nvSpPr>
              <p:cNvPr id="27" name="Arrow: Chevron 26">
                <a:extLst>
                  <a:ext uri="{FF2B5EF4-FFF2-40B4-BE49-F238E27FC236}">
                    <a16:creationId xmlns:a16="http://schemas.microsoft.com/office/drawing/2014/main" id="{7E398F2F-CE98-340E-71AF-2FCB261335B0}"/>
                  </a:ext>
                </a:extLst>
              </p:cNvPr>
              <p:cNvSpPr/>
              <p:nvPr/>
            </p:nvSpPr>
            <p:spPr>
              <a:xfrm rot="8491068">
                <a:off x="9694899" y="2689890"/>
                <a:ext cx="239895" cy="276079"/>
              </a:xfrm>
              <a:prstGeom prst="chevron">
                <a:avLst/>
              </a:prstGeom>
              <a:solidFill>
                <a:srgbClr val="088A7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8" name="Arrow: Chevron 27">
                <a:extLst>
                  <a:ext uri="{FF2B5EF4-FFF2-40B4-BE49-F238E27FC236}">
                    <a16:creationId xmlns:a16="http://schemas.microsoft.com/office/drawing/2014/main" id="{14CEAAE6-D4C2-060E-AF15-EF559A866654}"/>
                  </a:ext>
                </a:extLst>
              </p:cNvPr>
              <p:cNvSpPr/>
              <p:nvPr/>
            </p:nvSpPr>
            <p:spPr>
              <a:xfrm rot="18908558">
                <a:off x="10284122" y="2966182"/>
                <a:ext cx="224853" cy="307858"/>
              </a:xfrm>
              <a:prstGeom prst="chevron">
                <a:avLst/>
              </a:prstGeom>
              <a:solidFill>
                <a:srgbClr val="088A7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10B2046A-A296-0D62-E6F4-608C86CD827B}"/>
              </a:ext>
            </a:extLst>
          </p:cNvPr>
          <p:cNvGrpSpPr/>
          <p:nvPr/>
        </p:nvGrpSpPr>
        <p:grpSpPr>
          <a:xfrm>
            <a:off x="7753564" y="1204198"/>
            <a:ext cx="2357255" cy="1061384"/>
            <a:chOff x="8420673" y="977036"/>
            <a:chExt cx="2357255" cy="1061384"/>
          </a:xfrm>
        </p:grpSpPr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2133EDB0-CE1A-92BA-38DF-27A553B45FC1}"/>
                </a:ext>
              </a:extLst>
            </p:cNvPr>
            <p:cNvSpPr/>
            <p:nvPr/>
          </p:nvSpPr>
          <p:spPr>
            <a:xfrm>
              <a:off x="8420673" y="977036"/>
              <a:ext cx="2357255" cy="1061384"/>
            </a:xfrm>
            <a:custGeom>
              <a:avLst/>
              <a:gdLst>
                <a:gd name="csX0" fmla="*/ 0 w 2357255"/>
                <a:gd name="csY0" fmla="*/ 530692 h 1061384"/>
                <a:gd name="csX1" fmla="*/ 530692 w 2357255"/>
                <a:gd name="csY1" fmla="*/ 0 h 1061384"/>
                <a:gd name="csX2" fmla="*/ 988566 w 2357255"/>
                <a:gd name="csY2" fmla="*/ 0 h 1061384"/>
                <a:gd name="csX3" fmla="*/ 1407565 w 2357255"/>
                <a:gd name="csY3" fmla="*/ 0 h 1061384"/>
                <a:gd name="csX4" fmla="*/ 1826563 w 2357255"/>
                <a:gd name="csY4" fmla="*/ 0 h 1061384"/>
                <a:gd name="csX5" fmla="*/ 2357255 w 2357255"/>
                <a:gd name="csY5" fmla="*/ 530692 h 1061384"/>
                <a:gd name="csX6" fmla="*/ 2357255 w 2357255"/>
                <a:gd name="csY6" fmla="*/ 530692 h 1061384"/>
                <a:gd name="csX7" fmla="*/ 1826563 w 2357255"/>
                <a:gd name="csY7" fmla="*/ 1061384 h 1061384"/>
                <a:gd name="csX8" fmla="*/ 1368689 w 2357255"/>
                <a:gd name="csY8" fmla="*/ 1061384 h 1061384"/>
                <a:gd name="csX9" fmla="*/ 962649 w 2357255"/>
                <a:gd name="csY9" fmla="*/ 1061384 h 1061384"/>
                <a:gd name="csX10" fmla="*/ 530692 w 2357255"/>
                <a:gd name="csY10" fmla="*/ 1061384 h 1061384"/>
                <a:gd name="csX11" fmla="*/ 0 w 2357255"/>
                <a:gd name="csY11" fmla="*/ 530692 h 10613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2357255" h="1061384" extrusionOk="0">
                  <a:moveTo>
                    <a:pt x="0" y="530692"/>
                  </a:moveTo>
                  <a:cubicBezTo>
                    <a:pt x="-17657" y="226708"/>
                    <a:pt x="165930" y="26898"/>
                    <a:pt x="530692" y="0"/>
                  </a:cubicBezTo>
                  <a:cubicBezTo>
                    <a:pt x="731715" y="-5386"/>
                    <a:pt x="768819" y="46082"/>
                    <a:pt x="988566" y="0"/>
                  </a:cubicBezTo>
                  <a:cubicBezTo>
                    <a:pt x="1208313" y="-46082"/>
                    <a:pt x="1233981" y="20481"/>
                    <a:pt x="1407565" y="0"/>
                  </a:cubicBezTo>
                  <a:cubicBezTo>
                    <a:pt x="1581149" y="-20481"/>
                    <a:pt x="1622343" y="41841"/>
                    <a:pt x="1826563" y="0"/>
                  </a:cubicBezTo>
                  <a:cubicBezTo>
                    <a:pt x="2111368" y="-26694"/>
                    <a:pt x="2367411" y="200016"/>
                    <a:pt x="2357255" y="530692"/>
                  </a:cubicBezTo>
                  <a:lnTo>
                    <a:pt x="2357255" y="530692"/>
                  </a:lnTo>
                  <a:cubicBezTo>
                    <a:pt x="2309965" y="792778"/>
                    <a:pt x="2148446" y="1014532"/>
                    <a:pt x="1826563" y="1061384"/>
                  </a:cubicBezTo>
                  <a:cubicBezTo>
                    <a:pt x="1711688" y="1090727"/>
                    <a:pt x="1571373" y="1061101"/>
                    <a:pt x="1368689" y="1061384"/>
                  </a:cubicBezTo>
                  <a:cubicBezTo>
                    <a:pt x="1166005" y="1061667"/>
                    <a:pt x="1076792" y="1040420"/>
                    <a:pt x="962649" y="1061384"/>
                  </a:cubicBezTo>
                  <a:cubicBezTo>
                    <a:pt x="848506" y="1082348"/>
                    <a:pt x="740409" y="1058068"/>
                    <a:pt x="530692" y="1061384"/>
                  </a:cubicBezTo>
                  <a:cubicBezTo>
                    <a:pt x="303413" y="1115208"/>
                    <a:pt x="42748" y="887419"/>
                    <a:pt x="0" y="530692"/>
                  </a:cubicBezTo>
                  <a:close/>
                </a:path>
              </a:pathLst>
            </a:custGeom>
            <a:noFill/>
            <a:ln w="127000">
              <a:solidFill>
                <a:srgbClr val="088A74"/>
              </a:solidFill>
              <a:prstDash val="sysDash"/>
              <a:extLst>
                <a:ext uri="{C807C97D-BFC1-408E-A445-0C87EB9F89A2}">
                  <ask:lineSketchStyleProps xmlns:ask="http://schemas.microsoft.com/office/drawing/2018/sketchyshapes" sd="1219033472">
                    <a:prstGeom prst="roundRect">
                      <a:avLst>
                        <a:gd name="adj" fmla="val 50000"/>
                      </a:avLst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E139336A-DEBD-8AB0-0B1B-F6256941885B}"/>
                </a:ext>
              </a:extLst>
            </p:cNvPr>
            <p:cNvSpPr txBox="1"/>
            <p:nvPr/>
          </p:nvSpPr>
          <p:spPr>
            <a:xfrm>
              <a:off x="8822581" y="1094568"/>
              <a:ext cx="1595583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rgbClr val="088A74"/>
                  </a:solidFill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Frequent</a:t>
              </a:r>
            </a:p>
            <a:p>
              <a:pPr algn="ctr"/>
              <a:r>
                <a:rPr lang="en-US" sz="2400" dirty="0">
                  <a:solidFill>
                    <a:srgbClr val="088A74"/>
                  </a:solidFill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changes</a:t>
              </a: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0C6B4308-B8B8-CA36-70D3-478ADFF8CDDE}"/>
              </a:ext>
            </a:extLst>
          </p:cNvPr>
          <p:cNvGrpSpPr/>
          <p:nvPr/>
        </p:nvGrpSpPr>
        <p:grpSpPr>
          <a:xfrm>
            <a:off x="9399004" y="2739578"/>
            <a:ext cx="2439425" cy="1533733"/>
            <a:chOff x="9548713" y="2558581"/>
            <a:chExt cx="2439425" cy="1533733"/>
          </a:xfrm>
        </p:grpSpPr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148E372A-1BE9-41C3-D6B5-038D03B62DF3}"/>
                </a:ext>
              </a:extLst>
            </p:cNvPr>
            <p:cNvSpPr/>
            <p:nvPr/>
          </p:nvSpPr>
          <p:spPr>
            <a:xfrm>
              <a:off x="9548713" y="2558581"/>
              <a:ext cx="2439425" cy="1533733"/>
            </a:xfrm>
            <a:custGeom>
              <a:avLst/>
              <a:gdLst>
                <a:gd name="csX0" fmla="*/ 0 w 2439425"/>
                <a:gd name="csY0" fmla="*/ 766867 h 1533733"/>
                <a:gd name="csX1" fmla="*/ 766867 w 2439425"/>
                <a:gd name="csY1" fmla="*/ 0 h 1533733"/>
                <a:gd name="csX2" fmla="*/ 1237827 w 2439425"/>
                <a:gd name="csY2" fmla="*/ 0 h 1533733"/>
                <a:gd name="csX3" fmla="*/ 1672559 w 2439425"/>
                <a:gd name="csY3" fmla="*/ 0 h 1533733"/>
                <a:gd name="csX4" fmla="*/ 2439426 w 2439425"/>
                <a:gd name="csY4" fmla="*/ 766867 h 1533733"/>
                <a:gd name="csX5" fmla="*/ 2439425 w 2439425"/>
                <a:gd name="csY5" fmla="*/ 766867 h 1533733"/>
                <a:gd name="csX6" fmla="*/ 1672558 w 2439425"/>
                <a:gd name="csY6" fmla="*/ 1533734 h 1533733"/>
                <a:gd name="csX7" fmla="*/ 1237826 w 2439425"/>
                <a:gd name="csY7" fmla="*/ 1533734 h 1533733"/>
                <a:gd name="csX8" fmla="*/ 766867 w 2439425"/>
                <a:gd name="csY8" fmla="*/ 1533733 h 1533733"/>
                <a:gd name="csX9" fmla="*/ 0 w 2439425"/>
                <a:gd name="csY9" fmla="*/ 766866 h 1533733"/>
                <a:gd name="csX10" fmla="*/ 0 w 2439425"/>
                <a:gd name="csY10" fmla="*/ 766867 h 15337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2439425" h="1533733" extrusionOk="0">
                  <a:moveTo>
                    <a:pt x="0" y="766867"/>
                  </a:moveTo>
                  <a:cubicBezTo>
                    <a:pt x="-32663" y="323191"/>
                    <a:pt x="309085" y="12856"/>
                    <a:pt x="766867" y="0"/>
                  </a:cubicBezTo>
                  <a:cubicBezTo>
                    <a:pt x="926177" y="-44355"/>
                    <a:pt x="1035244" y="25479"/>
                    <a:pt x="1237827" y="0"/>
                  </a:cubicBezTo>
                  <a:cubicBezTo>
                    <a:pt x="1440410" y="-25479"/>
                    <a:pt x="1567396" y="2572"/>
                    <a:pt x="1672559" y="0"/>
                  </a:cubicBezTo>
                  <a:cubicBezTo>
                    <a:pt x="2009254" y="-47509"/>
                    <a:pt x="2450084" y="348430"/>
                    <a:pt x="2439426" y="766867"/>
                  </a:cubicBezTo>
                  <a:lnTo>
                    <a:pt x="2439425" y="766867"/>
                  </a:lnTo>
                  <a:cubicBezTo>
                    <a:pt x="2448940" y="1191525"/>
                    <a:pt x="2134291" y="1455110"/>
                    <a:pt x="1672558" y="1533734"/>
                  </a:cubicBezTo>
                  <a:cubicBezTo>
                    <a:pt x="1518262" y="1541995"/>
                    <a:pt x="1398262" y="1489080"/>
                    <a:pt x="1237826" y="1533734"/>
                  </a:cubicBezTo>
                  <a:cubicBezTo>
                    <a:pt x="1077390" y="1578388"/>
                    <a:pt x="915366" y="1489705"/>
                    <a:pt x="766867" y="1533733"/>
                  </a:cubicBezTo>
                  <a:cubicBezTo>
                    <a:pt x="402605" y="1566913"/>
                    <a:pt x="31111" y="1197875"/>
                    <a:pt x="0" y="766866"/>
                  </a:cubicBezTo>
                  <a:lnTo>
                    <a:pt x="0" y="766867"/>
                  </a:lnTo>
                  <a:close/>
                </a:path>
              </a:pathLst>
            </a:custGeom>
            <a:noFill/>
            <a:ln w="127000">
              <a:solidFill>
                <a:srgbClr val="088A74"/>
              </a:solidFill>
              <a:prstDash val="sysDash"/>
              <a:extLst>
                <a:ext uri="{C807C97D-BFC1-408E-A445-0C87EB9F89A2}">
                  <ask:lineSketchStyleProps xmlns:ask="http://schemas.microsoft.com/office/drawing/2018/sketchyshapes" sd="1219033472">
                    <a:prstGeom prst="roundRect">
                      <a:avLst>
                        <a:gd name="adj" fmla="val 50000"/>
                      </a:avLst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19BC4183-0220-81C3-3FD1-3337E1D7F70B}"/>
                </a:ext>
              </a:extLst>
            </p:cNvPr>
            <p:cNvSpPr txBox="1"/>
            <p:nvPr/>
          </p:nvSpPr>
          <p:spPr>
            <a:xfrm>
              <a:off x="9805956" y="2858247"/>
              <a:ext cx="1997491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rgbClr val="088A74"/>
                  </a:solidFill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High</a:t>
              </a:r>
            </a:p>
            <a:p>
              <a:pPr algn="ctr"/>
              <a:r>
                <a:rPr lang="en-US" sz="2400" dirty="0">
                  <a:solidFill>
                    <a:srgbClr val="088A74"/>
                  </a:solidFill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uncertainty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DA115F14-581C-6681-8A61-9562E9999790}"/>
              </a:ext>
            </a:extLst>
          </p:cNvPr>
          <p:cNvGrpSpPr/>
          <p:nvPr/>
        </p:nvGrpSpPr>
        <p:grpSpPr>
          <a:xfrm>
            <a:off x="9075202" y="4916912"/>
            <a:ext cx="2090674" cy="1358296"/>
            <a:chOff x="9548713" y="2558581"/>
            <a:chExt cx="2439425" cy="1533733"/>
          </a:xfrm>
        </p:grpSpPr>
        <p:sp>
          <p:nvSpPr>
            <p:cNvPr id="48" name="Rectangle: Rounded Corners 47">
              <a:extLst>
                <a:ext uri="{FF2B5EF4-FFF2-40B4-BE49-F238E27FC236}">
                  <a16:creationId xmlns:a16="http://schemas.microsoft.com/office/drawing/2014/main" id="{159747DE-7871-34E0-3F6F-93C51B9D62AF}"/>
                </a:ext>
              </a:extLst>
            </p:cNvPr>
            <p:cNvSpPr/>
            <p:nvPr/>
          </p:nvSpPr>
          <p:spPr>
            <a:xfrm>
              <a:off x="9548713" y="2558581"/>
              <a:ext cx="2439425" cy="1533733"/>
            </a:xfrm>
            <a:custGeom>
              <a:avLst/>
              <a:gdLst>
                <a:gd name="csX0" fmla="*/ 0 w 2439425"/>
                <a:gd name="csY0" fmla="*/ 766867 h 1533733"/>
                <a:gd name="csX1" fmla="*/ 766867 w 2439425"/>
                <a:gd name="csY1" fmla="*/ 0 h 1533733"/>
                <a:gd name="csX2" fmla="*/ 1237827 w 2439425"/>
                <a:gd name="csY2" fmla="*/ 0 h 1533733"/>
                <a:gd name="csX3" fmla="*/ 1672559 w 2439425"/>
                <a:gd name="csY3" fmla="*/ 0 h 1533733"/>
                <a:gd name="csX4" fmla="*/ 2439426 w 2439425"/>
                <a:gd name="csY4" fmla="*/ 766867 h 1533733"/>
                <a:gd name="csX5" fmla="*/ 2439425 w 2439425"/>
                <a:gd name="csY5" fmla="*/ 766867 h 1533733"/>
                <a:gd name="csX6" fmla="*/ 1672558 w 2439425"/>
                <a:gd name="csY6" fmla="*/ 1533734 h 1533733"/>
                <a:gd name="csX7" fmla="*/ 1237826 w 2439425"/>
                <a:gd name="csY7" fmla="*/ 1533734 h 1533733"/>
                <a:gd name="csX8" fmla="*/ 766867 w 2439425"/>
                <a:gd name="csY8" fmla="*/ 1533733 h 1533733"/>
                <a:gd name="csX9" fmla="*/ 0 w 2439425"/>
                <a:gd name="csY9" fmla="*/ 766866 h 1533733"/>
                <a:gd name="csX10" fmla="*/ 0 w 2439425"/>
                <a:gd name="csY10" fmla="*/ 766867 h 15337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2439425" h="1533733" extrusionOk="0">
                  <a:moveTo>
                    <a:pt x="0" y="766867"/>
                  </a:moveTo>
                  <a:cubicBezTo>
                    <a:pt x="-32663" y="323191"/>
                    <a:pt x="309085" y="12856"/>
                    <a:pt x="766867" y="0"/>
                  </a:cubicBezTo>
                  <a:cubicBezTo>
                    <a:pt x="926177" y="-44355"/>
                    <a:pt x="1035244" y="25479"/>
                    <a:pt x="1237827" y="0"/>
                  </a:cubicBezTo>
                  <a:cubicBezTo>
                    <a:pt x="1440410" y="-25479"/>
                    <a:pt x="1567396" y="2572"/>
                    <a:pt x="1672559" y="0"/>
                  </a:cubicBezTo>
                  <a:cubicBezTo>
                    <a:pt x="2009254" y="-47509"/>
                    <a:pt x="2450084" y="348430"/>
                    <a:pt x="2439426" y="766867"/>
                  </a:cubicBezTo>
                  <a:lnTo>
                    <a:pt x="2439425" y="766867"/>
                  </a:lnTo>
                  <a:cubicBezTo>
                    <a:pt x="2448940" y="1191525"/>
                    <a:pt x="2134291" y="1455110"/>
                    <a:pt x="1672558" y="1533734"/>
                  </a:cubicBezTo>
                  <a:cubicBezTo>
                    <a:pt x="1518262" y="1541995"/>
                    <a:pt x="1398262" y="1489080"/>
                    <a:pt x="1237826" y="1533734"/>
                  </a:cubicBezTo>
                  <a:cubicBezTo>
                    <a:pt x="1077390" y="1578388"/>
                    <a:pt x="915366" y="1489705"/>
                    <a:pt x="766867" y="1533733"/>
                  </a:cubicBezTo>
                  <a:cubicBezTo>
                    <a:pt x="402605" y="1566913"/>
                    <a:pt x="31111" y="1197875"/>
                    <a:pt x="0" y="766866"/>
                  </a:cubicBezTo>
                  <a:lnTo>
                    <a:pt x="0" y="766867"/>
                  </a:lnTo>
                  <a:close/>
                </a:path>
              </a:pathLst>
            </a:custGeom>
            <a:noFill/>
            <a:ln w="127000">
              <a:solidFill>
                <a:srgbClr val="088A74"/>
              </a:solidFill>
              <a:prstDash val="sysDash"/>
              <a:extLst>
                <a:ext uri="{C807C97D-BFC1-408E-A445-0C87EB9F89A2}">
                  <ask:lineSketchStyleProps xmlns:ask="http://schemas.microsoft.com/office/drawing/2018/sketchyshapes" sd="1219033472">
                    <a:prstGeom prst="roundRect">
                      <a:avLst>
                        <a:gd name="adj" fmla="val 50000"/>
                      </a:avLst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11D83D8D-A6C4-5DD1-99EA-BA34DAAC3075}"/>
                </a:ext>
              </a:extLst>
            </p:cNvPr>
            <p:cNvSpPr txBox="1"/>
            <p:nvPr/>
          </p:nvSpPr>
          <p:spPr>
            <a:xfrm>
              <a:off x="9805956" y="2858248"/>
              <a:ext cx="1997491" cy="9383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rgbClr val="088A74"/>
                  </a:solidFill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Frequent</a:t>
              </a:r>
            </a:p>
            <a:p>
              <a:pPr algn="ctr"/>
              <a:r>
                <a:rPr lang="en-US" sz="2400" dirty="0">
                  <a:solidFill>
                    <a:srgbClr val="088A74"/>
                  </a:solidFill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feedback</a:t>
              </a: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B41BD2BC-1493-91AE-9A1B-E1721071F731}"/>
              </a:ext>
            </a:extLst>
          </p:cNvPr>
          <p:cNvSpPr txBox="1"/>
          <p:nvPr/>
        </p:nvSpPr>
        <p:spPr>
          <a:xfrm>
            <a:off x="10352417" y="160407"/>
            <a:ext cx="1626919" cy="979069"/>
          </a:xfrm>
          <a:prstGeom prst="rect">
            <a:avLst/>
          </a:prstGeom>
          <a:solidFill>
            <a:srgbClr val="088A74"/>
          </a:solidFill>
        </p:spPr>
        <p:txBody>
          <a:bodyPr wrap="square" lIns="180000" tIns="180000" rIns="180000" bIns="180000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Agile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4F62870-64B1-93C7-36ED-5E5DCA3F1153}"/>
              </a:ext>
            </a:extLst>
          </p:cNvPr>
          <p:cNvSpPr txBox="1"/>
          <p:nvPr/>
        </p:nvSpPr>
        <p:spPr>
          <a:xfrm>
            <a:off x="201159" y="5702707"/>
            <a:ext cx="2522685" cy="979069"/>
          </a:xfrm>
          <a:prstGeom prst="rect">
            <a:avLst/>
          </a:prstGeom>
          <a:solidFill>
            <a:srgbClr val="1E8BBC"/>
          </a:solidFill>
        </p:spPr>
        <p:txBody>
          <a:bodyPr wrap="square" lIns="180000" tIns="180000" rIns="180000" bIns="180000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Waterfall</a:t>
            </a: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5A7DEE00-33B5-CB6B-B84E-8E1C6AEC250E}"/>
              </a:ext>
            </a:extLst>
          </p:cNvPr>
          <p:cNvGrpSpPr/>
          <p:nvPr/>
        </p:nvGrpSpPr>
        <p:grpSpPr>
          <a:xfrm>
            <a:off x="2431078" y="4915013"/>
            <a:ext cx="2782075" cy="1477284"/>
            <a:chOff x="8110354" y="1018785"/>
            <a:chExt cx="2847737" cy="1781353"/>
          </a:xfrm>
          <a:solidFill>
            <a:schemeClr val="bg1"/>
          </a:solidFill>
        </p:grpSpPr>
        <p:sp>
          <p:nvSpPr>
            <p:cNvPr id="54" name="Rectangle: Rounded Corners 53">
              <a:extLst>
                <a:ext uri="{FF2B5EF4-FFF2-40B4-BE49-F238E27FC236}">
                  <a16:creationId xmlns:a16="http://schemas.microsoft.com/office/drawing/2014/main" id="{00ED8610-8F27-ACF1-3B20-2A28EB971247}"/>
                </a:ext>
              </a:extLst>
            </p:cNvPr>
            <p:cNvSpPr/>
            <p:nvPr/>
          </p:nvSpPr>
          <p:spPr>
            <a:xfrm>
              <a:off x="8110354" y="1018785"/>
              <a:ext cx="2847737" cy="1781353"/>
            </a:xfrm>
            <a:custGeom>
              <a:avLst/>
              <a:gdLst>
                <a:gd name="csX0" fmla="*/ 0 w 2847737"/>
                <a:gd name="csY0" fmla="*/ 890677 h 1781353"/>
                <a:gd name="csX1" fmla="*/ 890677 w 2847737"/>
                <a:gd name="csY1" fmla="*/ 0 h 1781353"/>
                <a:gd name="csX2" fmla="*/ 1423869 w 2847737"/>
                <a:gd name="csY2" fmla="*/ 0 h 1781353"/>
                <a:gd name="csX3" fmla="*/ 1957061 w 2847737"/>
                <a:gd name="csY3" fmla="*/ 0 h 1781353"/>
                <a:gd name="csX4" fmla="*/ 2847738 w 2847737"/>
                <a:gd name="csY4" fmla="*/ 890677 h 1781353"/>
                <a:gd name="csX5" fmla="*/ 2847737 w 2847737"/>
                <a:gd name="csY5" fmla="*/ 890677 h 1781353"/>
                <a:gd name="csX6" fmla="*/ 1957060 w 2847737"/>
                <a:gd name="csY6" fmla="*/ 1781354 h 1781353"/>
                <a:gd name="csX7" fmla="*/ 1413205 w 2847737"/>
                <a:gd name="csY7" fmla="*/ 1781353 h 1781353"/>
                <a:gd name="csX8" fmla="*/ 890677 w 2847737"/>
                <a:gd name="csY8" fmla="*/ 1781353 h 1781353"/>
                <a:gd name="csX9" fmla="*/ 0 w 2847737"/>
                <a:gd name="csY9" fmla="*/ 890676 h 1781353"/>
                <a:gd name="csX10" fmla="*/ 0 w 2847737"/>
                <a:gd name="csY10" fmla="*/ 890677 h 178135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2847737" h="1781353" fill="none" extrusionOk="0">
                  <a:moveTo>
                    <a:pt x="0" y="890677"/>
                  </a:moveTo>
                  <a:cubicBezTo>
                    <a:pt x="-75992" y="386479"/>
                    <a:pt x="480097" y="66511"/>
                    <a:pt x="890677" y="0"/>
                  </a:cubicBezTo>
                  <a:cubicBezTo>
                    <a:pt x="1144122" y="-55600"/>
                    <a:pt x="1202821" y="61296"/>
                    <a:pt x="1423869" y="0"/>
                  </a:cubicBezTo>
                  <a:cubicBezTo>
                    <a:pt x="1644917" y="-61296"/>
                    <a:pt x="1726265" y="47843"/>
                    <a:pt x="1957061" y="0"/>
                  </a:cubicBezTo>
                  <a:cubicBezTo>
                    <a:pt x="2460172" y="-9809"/>
                    <a:pt x="2849970" y="388270"/>
                    <a:pt x="2847738" y="890677"/>
                  </a:cubicBezTo>
                  <a:lnTo>
                    <a:pt x="2847737" y="890677"/>
                  </a:lnTo>
                  <a:cubicBezTo>
                    <a:pt x="2790629" y="1391962"/>
                    <a:pt x="2411853" y="1755746"/>
                    <a:pt x="1957060" y="1781354"/>
                  </a:cubicBezTo>
                  <a:cubicBezTo>
                    <a:pt x="1689326" y="1785547"/>
                    <a:pt x="1588988" y="1751248"/>
                    <a:pt x="1413205" y="1781353"/>
                  </a:cubicBezTo>
                  <a:cubicBezTo>
                    <a:pt x="1237422" y="1811458"/>
                    <a:pt x="1034313" y="1731281"/>
                    <a:pt x="890677" y="1781353"/>
                  </a:cubicBezTo>
                  <a:cubicBezTo>
                    <a:pt x="328449" y="1907089"/>
                    <a:pt x="75433" y="1438635"/>
                    <a:pt x="0" y="890676"/>
                  </a:cubicBezTo>
                  <a:lnTo>
                    <a:pt x="0" y="890677"/>
                  </a:lnTo>
                  <a:close/>
                </a:path>
                <a:path w="2847737" h="1781353" stroke="0" extrusionOk="0">
                  <a:moveTo>
                    <a:pt x="0" y="890677"/>
                  </a:moveTo>
                  <a:cubicBezTo>
                    <a:pt x="-79280" y="349868"/>
                    <a:pt x="317903" y="30351"/>
                    <a:pt x="890677" y="0"/>
                  </a:cubicBezTo>
                  <a:cubicBezTo>
                    <a:pt x="1071109" y="-25524"/>
                    <a:pt x="1308910" y="52090"/>
                    <a:pt x="1445197" y="0"/>
                  </a:cubicBezTo>
                  <a:cubicBezTo>
                    <a:pt x="1581484" y="-52090"/>
                    <a:pt x="1752648" y="16119"/>
                    <a:pt x="1957061" y="0"/>
                  </a:cubicBezTo>
                  <a:cubicBezTo>
                    <a:pt x="2333405" y="-63227"/>
                    <a:pt x="2912256" y="429597"/>
                    <a:pt x="2847738" y="890677"/>
                  </a:cubicBezTo>
                  <a:lnTo>
                    <a:pt x="2847737" y="890677"/>
                  </a:lnTo>
                  <a:cubicBezTo>
                    <a:pt x="2912604" y="1390279"/>
                    <a:pt x="2509253" y="1657286"/>
                    <a:pt x="1957060" y="1781354"/>
                  </a:cubicBezTo>
                  <a:cubicBezTo>
                    <a:pt x="1806836" y="1789514"/>
                    <a:pt x="1608896" y="1740075"/>
                    <a:pt x="1445196" y="1781354"/>
                  </a:cubicBezTo>
                  <a:cubicBezTo>
                    <a:pt x="1281496" y="1822633"/>
                    <a:pt x="1018821" y="1776684"/>
                    <a:pt x="890677" y="1781353"/>
                  </a:cubicBezTo>
                  <a:cubicBezTo>
                    <a:pt x="525406" y="1852249"/>
                    <a:pt x="70772" y="1399599"/>
                    <a:pt x="0" y="890676"/>
                  </a:cubicBezTo>
                  <a:lnTo>
                    <a:pt x="0" y="890677"/>
                  </a:lnTo>
                  <a:close/>
                </a:path>
              </a:pathLst>
            </a:custGeom>
            <a:grpFill/>
            <a:ln w="127000">
              <a:solidFill>
                <a:srgbClr val="1E8BBC"/>
              </a:solidFill>
              <a:prstDash val="sysDash"/>
              <a:extLst>
                <a:ext uri="{C807C97D-BFC1-408E-A445-0C87EB9F89A2}">
                  <ask:lineSketchStyleProps xmlns:ask="http://schemas.microsoft.com/office/drawing/2018/sketchyshapes" sd="1219033472">
                    <a:prstGeom prst="roundRect">
                      <a:avLst>
                        <a:gd name="adj" fmla="val 50000"/>
                      </a:avLst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7AB057B6-2D2D-FCA0-A251-A05DBEBC701F}"/>
                </a:ext>
              </a:extLst>
            </p:cNvPr>
            <p:cNvSpPr txBox="1"/>
            <p:nvPr/>
          </p:nvSpPr>
          <p:spPr>
            <a:xfrm>
              <a:off x="8406981" y="1385948"/>
              <a:ext cx="2308224" cy="83099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rgbClr val="1E8BBC"/>
                  </a:solidFill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Fixed</a:t>
              </a:r>
            </a:p>
            <a:p>
              <a:pPr algn="ctr"/>
              <a:r>
                <a:rPr lang="en-US" sz="2400" dirty="0">
                  <a:solidFill>
                    <a:srgbClr val="1E8BBC"/>
                  </a:solidFill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requirements</a:t>
              </a: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68453552-70C9-3DFA-408B-BCFDE5B542C2}"/>
              </a:ext>
            </a:extLst>
          </p:cNvPr>
          <p:cNvGrpSpPr/>
          <p:nvPr/>
        </p:nvGrpSpPr>
        <p:grpSpPr>
          <a:xfrm>
            <a:off x="2160478" y="1115359"/>
            <a:ext cx="2943778" cy="2016759"/>
            <a:chOff x="8110354" y="1018785"/>
            <a:chExt cx="2420100" cy="2097307"/>
          </a:xfrm>
          <a:solidFill>
            <a:schemeClr val="bg1"/>
          </a:solidFill>
        </p:grpSpPr>
        <p:sp>
          <p:nvSpPr>
            <p:cNvPr id="60" name="Rectangle: Rounded Corners 59">
              <a:extLst>
                <a:ext uri="{FF2B5EF4-FFF2-40B4-BE49-F238E27FC236}">
                  <a16:creationId xmlns:a16="http://schemas.microsoft.com/office/drawing/2014/main" id="{92C990F0-354A-ABF4-8557-3F55C12BDFA2}"/>
                </a:ext>
              </a:extLst>
            </p:cNvPr>
            <p:cNvSpPr/>
            <p:nvPr/>
          </p:nvSpPr>
          <p:spPr>
            <a:xfrm>
              <a:off x="8110354" y="1018785"/>
              <a:ext cx="2420100" cy="1781353"/>
            </a:xfrm>
            <a:custGeom>
              <a:avLst/>
              <a:gdLst>
                <a:gd name="csX0" fmla="*/ 0 w 2420100"/>
                <a:gd name="csY0" fmla="*/ 890677 h 1781353"/>
                <a:gd name="csX1" fmla="*/ 890677 w 2420100"/>
                <a:gd name="csY1" fmla="*/ 0 h 1781353"/>
                <a:gd name="csX2" fmla="*/ 1210051 w 2420100"/>
                <a:gd name="csY2" fmla="*/ 0 h 1781353"/>
                <a:gd name="csX3" fmla="*/ 1529424 w 2420100"/>
                <a:gd name="csY3" fmla="*/ 0 h 1781353"/>
                <a:gd name="csX4" fmla="*/ 2420101 w 2420100"/>
                <a:gd name="csY4" fmla="*/ 890677 h 1781353"/>
                <a:gd name="csX5" fmla="*/ 2420100 w 2420100"/>
                <a:gd name="csY5" fmla="*/ 890677 h 1781353"/>
                <a:gd name="csX6" fmla="*/ 1529423 w 2420100"/>
                <a:gd name="csY6" fmla="*/ 1781354 h 1781353"/>
                <a:gd name="csX7" fmla="*/ 1203663 w 2420100"/>
                <a:gd name="csY7" fmla="*/ 1781353 h 1781353"/>
                <a:gd name="csX8" fmla="*/ 890677 w 2420100"/>
                <a:gd name="csY8" fmla="*/ 1781353 h 1781353"/>
                <a:gd name="csX9" fmla="*/ 0 w 2420100"/>
                <a:gd name="csY9" fmla="*/ 890676 h 1781353"/>
                <a:gd name="csX10" fmla="*/ 0 w 2420100"/>
                <a:gd name="csY10" fmla="*/ 890677 h 178135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2420100" h="1781353" fill="none" extrusionOk="0">
                  <a:moveTo>
                    <a:pt x="0" y="890677"/>
                  </a:moveTo>
                  <a:cubicBezTo>
                    <a:pt x="-75992" y="386479"/>
                    <a:pt x="480097" y="66511"/>
                    <a:pt x="890677" y="0"/>
                  </a:cubicBezTo>
                  <a:cubicBezTo>
                    <a:pt x="966450" y="-1926"/>
                    <a:pt x="1091078" y="12643"/>
                    <a:pt x="1210051" y="0"/>
                  </a:cubicBezTo>
                  <a:cubicBezTo>
                    <a:pt x="1329024" y="-12643"/>
                    <a:pt x="1372350" y="25598"/>
                    <a:pt x="1529424" y="0"/>
                  </a:cubicBezTo>
                  <a:cubicBezTo>
                    <a:pt x="2032535" y="-9809"/>
                    <a:pt x="2422333" y="388270"/>
                    <a:pt x="2420101" y="890677"/>
                  </a:cubicBezTo>
                  <a:lnTo>
                    <a:pt x="2420100" y="890677"/>
                  </a:lnTo>
                  <a:cubicBezTo>
                    <a:pt x="2362992" y="1391962"/>
                    <a:pt x="1984216" y="1755746"/>
                    <a:pt x="1529423" y="1781354"/>
                  </a:cubicBezTo>
                  <a:cubicBezTo>
                    <a:pt x="1398763" y="1806023"/>
                    <a:pt x="1331742" y="1746310"/>
                    <a:pt x="1203663" y="1781353"/>
                  </a:cubicBezTo>
                  <a:cubicBezTo>
                    <a:pt x="1075584" y="1816396"/>
                    <a:pt x="959623" y="1773470"/>
                    <a:pt x="890677" y="1781353"/>
                  </a:cubicBezTo>
                  <a:cubicBezTo>
                    <a:pt x="328449" y="1907089"/>
                    <a:pt x="75433" y="1438635"/>
                    <a:pt x="0" y="890676"/>
                  </a:cubicBezTo>
                  <a:lnTo>
                    <a:pt x="0" y="890677"/>
                  </a:lnTo>
                  <a:close/>
                </a:path>
                <a:path w="2420100" h="1781353" stroke="0" extrusionOk="0">
                  <a:moveTo>
                    <a:pt x="0" y="890677"/>
                  </a:moveTo>
                  <a:cubicBezTo>
                    <a:pt x="-79280" y="349868"/>
                    <a:pt x="317903" y="30351"/>
                    <a:pt x="890677" y="0"/>
                  </a:cubicBezTo>
                  <a:cubicBezTo>
                    <a:pt x="1009093" y="-33447"/>
                    <a:pt x="1063354" y="26262"/>
                    <a:pt x="1222825" y="0"/>
                  </a:cubicBezTo>
                  <a:cubicBezTo>
                    <a:pt x="1382296" y="-26262"/>
                    <a:pt x="1420889" y="24324"/>
                    <a:pt x="1529424" y="0"/>
                  </a:cubicBezTo>
                  <a:cubicBezTo>
                    <a:pt x="1905768" y="-63227"/>
                    <a:pt x="2484619" y="429597"/>
                    <a:pt x="2420101" y="890677"/>
                  </a:cubicBezTo>
                  <a:lnTo>
                    <a:pt x="2420100" y="890677"/>
                  </a:lnTo>
                  <a:cubicBezTo>
                    <a:pt x="2484967" y="1390279"/>
                    <a:pt x="2081616" y="1657286"/>
                    <a:pt x="1529423" y="1781354"/>
                  </a:cubicBezTo>
                  <a:cubicBezTo>
                    <a:pt x="1463094" y="1809711"/>
                    <a:pt x="1320030" y="1769392"/>
                    <a:pt x="1222825" y="1781354"/>
                  </a:cubicBezTo>
                  <a:cubicBezTo>
                    <a:pt x="1125620" y="1793316"/>
                    <a:pt x="1026066" y="1781035"/>
                    <a:pt x="890677" y="1781353"/>
                  </a:cubicBezTo>
                  <a:cubicBezTo>
                    <a:pt x="525406" y="1852249"/>
                    <a:pt x="70772" y="1399599"/>
                    <a:pt x="0" y="890676"/>
                  </a:cubicBezTo>
                  <a:lnTo>
                    <a:pt x="0" y="890677"/>
                  </a:lnTo>
                  <a:close/>
                </a:path>
              </a:pathLst>
            </a:custGeom>
            <a:grpFill/>
            <a:ln w="127000">
              <a:solidFill>
                <a:srgbClr val="1E8BBC"/>
              </a:solidFill>
              <a:prstDash val="sysDash"/>
              <a:extLst>
                <a:ext uri="{C807C97D-BFC1-408E-A445-0C87EB9F89A2}">
                  <ask:lineSketchStyleProps xmlns:ask="http://schemas.microsoft.com/office/drawing/2018/sketchyshapes" sd="1219033472">
                    <a:prstGeom prst="roundRect">
                      <a:avLst>
                        <a:gd name="adj" fmla="val 50000"/>
                      </a:avLst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C54DF13C-B59B-EC83-C69A-B40148B47558}"/>
                </a:ext>
              </a:extLst>
            </p:cNvPr>
            <p:cNvSpPr txBox="1"/>
            <p:nvPr/>
          </p:nvSpPr>
          <p:spPr>
            <a:xfrm>
              <a:off x="8376377" y="1293011"/>
              <a:ext cx="1951493" cy="18230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rgbClr val="1E8BBC"/>
                  </a:solidFill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Limited</a:t>
              </a:r>
            </a:p>
            <a:p>
              <a:pPr algn="ctr"/>
              <a:r>
                <a:rPr lang="en-US" sz="2400" dirty="0">
                  <a:solidFill>
                    <a:srgbClr val="1E8BBC"/>
                  </a:solidFill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Customer</a:t>
              </a:r>
            </a:p>
            <a:p>
              <a:pPr algn="ctr"/>
              <a:r>
                <a:rPr lang="en-US" sz="2400" dirty="0">
                  <a:solidFill>
                    <a:srgbClr val="1E8BBC"/>
                  </a:solidFill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involvement</a:t>
              </a:r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D242F5A3-4883-C306-48A7-42C80DB4706E}"/>
              </a:ext>
            </a:extLst>
          </p:cNvPr>
          <p:cNvGrpSpPr/>
          <p:nvPr/>
        </p:nvGrpSpPr>
        <p:grpSpPr>
          <a:xfrm>
            <a:off x="538262" y="3117193"/>
            <a:ext cx="2368977" cy="1533733"/>
            <a:chOff x="8110354" y="1018785"/>
            <a:chExt cx="2420100" cy="1781353"/>
          </a:xfrm>
          <a:solidFill>
            <a:schemeClr val="bg1"/>
          </a:solidFill>
        </p:grpSpPr>
        <p:sp>
          <p:nvSpPr>
            <p:cNvPr id="57" name="Rectangle: Rounded Corners 56">
              <a:extLst>
                <a:ext uri="{FF2B5EF4-FFF2-40B4-BE49-F238E27FC236}">
                  <a16:creationId xmlns:a16="http://schemas.microsoft.com/office/drawing/2014/main" id="{AEEFCE28-D99C-B5BD-D024-5BEF23166825}"/>
                </a:ext>
              </a:extLst>
            </p:cNvPr>
            <p:cNvSpPr/>
            <p:nvPr/>
          </p:nvSpPr>
          <p:spPr>
            <a:xfrm>
              <a:off x="8110354" y="1018785"/>
              <a:ext cx="2420100" cy="1781353"/>
            </a:xfrm>
            <a:custGeom>
              <a:avLst/>
              <a:gdLst>
                <a:gd name="csX0" fmla="*/ 0 w 2420100"/>
                <a:gd name="csY0" fmla="*/ 890677 h 1781353"/>
                <a:gd name="csX1" fmla="*/ 890677 w 2420100"/>
                <a:gd name="csY1" fmla="*/ 0 h 1781353"/>
                <a:gd name="csX2" fmla="*/ 1210051 w 2420100"/>
                <a:gd name="csY2" fmla="*/ 0 h 1781353"/>
                <a:gd name="csX3" fmla="*/ 1529424 w 2420100"/>
                <a:gd name="csY3" fmla="*/ 0 h 1781353"/>
                <a:gd name="csX4" fmla="*/ 2420101 w 2420100"/>
                <a:gd name="csY4" fmla="*/ 890677 h 1781353"/>
                <a:gd name="csX5" fmla="*/ 2420100 w 2420100"/>
                <a:gd name="csY5" fmla="*/ 890677 h 1781353"/>
                <a:gd name="csX6" fmla="*/ 1529423 w 2420100"/>
                <a:gd name="csY6" fmla="*/ 1781354 h 1781353"/>
                <a:gd name="csX7" fmla="*/ 1203663 w 2420100"/>
                <a:gd name="csY7" fmla="*/ 1781353 h 1781353"/>
                <a:gd name="csX8" fmla="*/ 890677 w 2420100"/>
                <a:gd name="csY8" fmla="*/ 1781353 h 1781353"/>
                <a:gd name="csX9" fmla="*/ 0 w 2420100"/>
                <a:gd name="csY9" fmla="*/ 890676 h 1781353"/>
                <a:gd name="csX10" fmla="*/ 0 w 2420100"/>
                <a:gd name="csY10" fmla="*/ 890677 h 178135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2420100" h="1781353" fill="none" extrusionOk="0">
                  <a:moveTo>
                    <a:pt x="0" y="890677"/>
                  </a:moveTo>
                  <a:cubicBezTo>
                    <a:pt x="-75992" y="386479"/>
                    <a:pt x="480097" y="66511"/>
                    <a:pt x="890677" y="0"/>
                  </a:cubicBezTo>
                  <a:cubicBezTo>
                    <a:pt x="966450" y="-1926"/>
                    <a:pt x="1091078" y="12643"/>
                    <a:pt x="1210051" y="0"/>
                  </a:cubicBezTo>
                  <a:cubicBezTo>
                    <a:pt x="1329024" y="-12643"/>
                    <a:pt x="1372350" y="25598"/>
                    <a:pt x="1529424" y="0"/>
                  </a:cubicBezTo>
                  <a:cubicBezTo>
                    <a:pt x="2032535" y="-9809"/>
                    <a:pt x="2422333" y="388270"/>
                    <a:pt x="2420101" y="890677"/>
                  </a:cubicBezTo>
                  <a:lnTo>
                    <a:pt x="2420100" y="890677"/>
                  </a:lnTo>
                  <a:cubicBezTo>
                    <a:pt x="2362992" y="1391962"/>
                    <a:pt x="1984216" y="1755746"/>
                    <a:pt x="1529423" y="1781354"/>
                  </a:cubicBezTo>
                  <a:cubicBezTo>
                    <a:pt x="1398763" y="1806023"/>
                    <a:pt x="1331742" y="1746310"/>
                    <a:pt x="1203663" y="1781353"/>
                  </a:cubicBezTo>
                  <a:cubicBezTo>
                    <a:pt x="1075584" y="1816396"/>
                    <a:pt x="959623" y="1773470"/>
                    <a:pt x="890677" y="1781353"/>
                  </a:cubicBezTo>
                  <a:cubicBezTo>
                    <a:pt x="328449" y="1907089"/>
                    <a:pt x="75433" y="1438635"/>
                    <a:pt x="0" y="890676"/>
                  </a:cubicBezTo>
                  <a:lnTo>
                    <a:pt x="0" y="890677"/>
                  </a:lnTo>
                  <a:close/>
                </a:path>
                <a:path w="2420100" h="1781353" stroke="0" extrusionOk="0">
                  <a:moveTo>
                    <a:pt x="0" y="890677"/>
                  </a:moveTo>
                  <a:cubicBezTo>
                    <a:pt x="-79280" y="349868"/>
                    <a:pt x="317903" y="30351"/>
                    <a:pt x="890677" y="0"/>
                  </a:cubicBezTo>
                  <a:cubicBezTo>
                    <a:pt x="1009093" y="-33447"/>
                    <a:pt x="1063354" y="26262"/>
                    <a:pt x="1222825" y="0"/>
                  </a:cubicBezTo>
                  <a:cubicBezTo>
                    <a:pt x="1382296" y="-26262"/>
                    <a:pt x="1420889" y="24324"/>
                    <a:pt x="1529424" y="0"/>
                  </a:cubicBezTo>
                  <a:cubicBezTo>
                    <a:pt x="1905768" y="-63227"/>
                    <a:pt x="2484619" y="429597"/>
                    <a:pt x="2420101" y="890677"/>
                  </a:cubicBezTo>
                  <a:lnTo>
                    <a:pt x="2420100" y="890677"/>
                  </a:lnTo>
                  <a:cubicBezTo>
                    <a:pt x="2484967" y="1390279"/>
                    <a:pt x="2081616" y="1657286"/>
                    <a:pt x="1529423" y="1781354"/>
                  </a:cubicBezTo>
                  <a:cubicBezTo>
                    <a:pt x="1463094" y="1809711"/>
                    <a:pt x="1320030" y="1769392"/>
                    <a:pt x="1222825" y="1781354"/>
                  </a:cubicBezTo>
                  <a:cubicBezTo>
                    <a:pt x="1125620" y="1793316"/>
                    <a:pt x="1026066" y="1781035"/>
                    <a:pt x="890677" y="1781353"/>
                  </a:cubicBezTo>
                  <a:cubicBezTo>
                    <a:pt x="525406" y="1852249"/>
                    <a:pt x="70772" y="1399599"/>
                    <a:pt x="0" y="890676"/>
                  </a:cubicBezTo>
                  <a:lnTo>
                    <a:pt x="0" y="890677"/>
                  </a:lnTo>
                  <a:close/>
                </a:path>
              </a:pathLst>
            </a:custGeom>
            <a:grpFill/>
            <a:ln w="127000">
              <a:solidFill>
                <a:srgbClr val="1E8BBC"/>
              </a:solidFill>
              <a:prstDash val="sysDash"/>
              <a:extLst>
                <a:ext uri="{C807C97D-BFC1-408E-A445-0C87EB9F89A2}">
                  <ask:lineSketchStyleProps xmlns:ask="http://schemas.microsoft.com/office/drawing/2018/sketchyshapes" sd="1219033472">
                    <a:prstGeom prst="roundRect">
                      <a:avLst>
                        <a:gd name="adj" fmla="val 50000"/>
                      </a:avLst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04FEDED7-A913-3D91-882B-23EE9EDFB139}"/>
                </a:ext>
              </a:extLst>
            </p:cNvPr>
            <p:cNvSpPr txBox="1"/>
            <p:nvPr/>
          </p:nvSpPr>
          <p:spPr>
            <a:xfrm>
              <a:off x="8330414" y="1438179"/>
              <a:ext cx="1951493" cy="965161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rgbClr val="1E8BBC"/>
                  </a:solidFill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Predictable</a:t>
              </a:r>
            </a:p>
            <a:p>
              <a:pPr algn="ctr"/>
              <a:r>
                <a:rPr lang="en-US" sz="2400" dirty="0">
                  <a:solidFill>
                    <a:srgbClr val="1E8BBC"/>
                  </a:solidFill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project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941447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02F12071-E35C-C372-9BB6-F376D0299CDA}"/>
              </a:ext>
            </a:extLst>
          </p:cNvPr>
          <p:cNvSpPr txBox="1">
            <a:spLocks/>
          </p:cNvSpPr>
          <p:nvPr/>
        </p:nvSpPr>
        <p:spPr>
          <a:xfrm>
            <a:off x="269823" y="0"/>
            <a:ext cx="4302176" cy="14058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b="1" dirty="0">
                <a:solidFill>
                  <a:srgbClr val="0B3041"/>
                </a:solidFill>
              </a:rPr>
              <a:t>References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0701ADF-22F2-E768-DE85-7FE816937BCB}"/>
              </a:ext>
            </a:extLst>
          </p:cNvPr>
          <p:cNvSpPr txBox="1"/>
          <p:nvPr/>
        </p:nvSpPr>
        <p:spPr>
          <a:xfrm>
            <a:off x="1996404" y="1380928"/>
            <a:ext cx="9453797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>
                <a:solidFill>
                  <a:srgbClr val="0B3041"/>
                </a:solidFill>
              </a:rPr>
              <a:t>Serrador</a:t>
            </a:r>
            <a:r>
              <a:rPr lang="en-US" sz="2000" dirty="0">
                <a:solidFill>
                  <a:srgbClr val="0B3041"/>
                </a:solidFill>
              </a:rPr>
              <a:t>, P., &amp; Zadeh, A. A. (2025). When Agile works: Unveiling the secrets to Agile success. Engineering Management Journal.</a:t>
            </a:r>
          </a:p>
          <a:p>
            <a:endParaRPr lang="en-US" sz="2000" dirty="0">
              <a:solidFill>
                <a:srgbClr val="0B3041"/>
              </a:solidFill>
            </a:endParaRPr>
          </a:p>
          <a:p>
            <a:r>
              <a:rPr lang="en-US" sz="2000" dirty="0">
                <a:solidFill>
                  <a:srgbClr val="0B3041"/>
                </a:solidFill>
              </a:rPr>
              <a:t>Santoso, J. T., Raharjo, B., &amp; Wibowo, M. C. (2024). Agile project management practice to support project management success. Quality - Access to Success.</a:t>
            </a:r>
          </a:p>
          <a:p>
            <a:endParaRPr lang="en-US" sz="2000" dirty="0">
              <a:solidFill>
                <a:srgbClr val="0B3041"/>
              </a:solidFill>
            </a:endParaRPr>
          </a:p>
          <a:p>
            <a:r>
              <a:rPr lang="en-US" sz="2000" dirty="0">
                <a:solidFill>
                  <a:srgbClr val="0B3041"/>
                </a:solidFill>
              </a:rPr>
              <a:t>Maravić </a:t>
            </a:r>
            <a:r>
              <a:rPr lang="en-US" sz="2000" dirty="0" err="1">
                <a:solidFill>
                  <a:srgbClr val="0B3041"/>
                </a:solidFill>
              </a:rPr>
              <a:t>Čisar</a:t>
            </a:r>
            <a:r>
              <a:rPr lang="en-US" sz="2000" dirty="0">
                <a:solidFill>
                  <a:srgbClr val="0B3041"/>
                </a:solidFill>
              </a:rPr>
              <a:t>, S., Pinter, R., </a:t>
            </a:r>
            <a:r>
              <a:rPr lang="en-US" sz="2000" dirty="0" err="1">
                <a:solidFill>
                  <a:srgbClr val="0B3041"/>
                </a:solidFill>
              </a:rPr>
              <a:t>Čisar</a:t>
            </a:r>
            <a:r>
              <a:rPr lang="en-US" sz="2000" dirty="0">
                <a:solidFill>
                  <a:srgbClr val="0B3041"/>
                </a:solidFill>
              </a:rPr>
              <a:t>, P., &amp; </a:t>
            </a:r>
            <a:r>
              <a:rPr lang="en-US" sz="2000" dirty="0" err="1">
                <a:solidFill>
                  <a:srgbClr val="0B3041"/>
                </a:solidFill>
              </a:rPr>
              <a:t>Đikanović</a:t>
            </a:r>
            <a:r>
              <a:rPr lang="en-US" sz="2000" dirty="0">
                <a:solidFill>
                  <a:srgbClr val="0B3041"/>
                </a:solidFill>
              </a:rPr>
              <a:t>, P. (2025). The impact of Scrum methodology on student motivation and problem-solving skills. Interdisciplinary Description of Complex Systems, 23(2), 159–181.</a:t>
            </a:r>
          </a:p>
          <a:p>
            <a:endParaRPr lang="en-US" sz="2000" dirty="0">
              <a:solidFill>
                <a:srgbClr val="0B3041"/>
              </a:solidFill>
            </a:endParaRPr>
          </a:p>
          <a:p>
            <a:r>
              <a:rPr lang="en-US" sz="2000" dirty="0">
                <a:solidFill>
                  <a:srgbClr val="0B3041"/>
                </a:solidFill>
              </a:rPr>
              <a:t>Ziebell, A., Mielke, F., &amp; Saintot, V. M. (2026). Mindful Scrum: </a:t>
            </a:r>
            <a:r>
              <a:rPr lang="en-US" sz="2000" dirty="0" err="1">
                <a:solidFill>
                  <a:srgbClr val="0B3041"/>
                </a:solidFill>
              </a:rPr>
              <a:t>Mobilising</a:t>
            </a:r>
            <a:r>
              <a:rPr lang="en-US" sz="2000" dirty="0">
                <a:solidFill>
                  <a:srgbClr val="0B3041"/>
                </a:solidFill>
              </a:rPr>
              <a:t> mindfulness practices to foster agility in project management teams. International Journal of Project Management, 44, 102829.</a:t>
            </a:r>
          </a:p>
          <a:p>
            <a:endParaRPr lang="en-US" sz="2000" dirty="0">
              <a:solidFill>
                <a:srgbClr val="0B3041"/>
              </a:solidFill>
            </a:endParaRPr>
          </a:p>
          <a:p>
            <a:r>
              <a:rPr lang="en-US" sz="2000" dirty="0">
                <a:solidFill>
                  <a:srgbClr val="0B3041"/>
                </a:solidFill>
              </a:rPr>
              <a:t>Southern New Hampshire University. (n.d.). </a:t>
            </a:r>
            <a:r>
              <a:rPr lang="en-US" sz="2000" i="1" dirty="0">
                <a:solidFill>
                  <a:srgbClr val="0B3041"/>
                </a:solidFill>
              </a:rPr>
              <a:t>CS250-Module One: SDLC methodologies.</a:t>
            </a:r>
            <a:endParaRPr lang="en-US" sz="2000" dirty="0">
              <a:solidFill>
                <a:srgbClr val="0B3041"/>
              </a:solidFill>
            </a:endParaRPr>
          </a:p>
        </p:txBody>
      </p:sp>
      <p:pic>
        <p:nvPicPr>
          <p:cNvPr id="13" name="Graphic 12" descr="Open book outline">
            <a:extLst>
              <a:ext uri="{FF2B5EF4-FFF2-40B4-BE49-F238E27FC236}">
                <a16:creationId xmlns:a16="http://schemas.microsoft.com/office/drawing/2014/main" id="{0832BB34-E2B7-90DF-B8EE-0F01828CDD6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78092" y="1384169"/>
            <a:ext cx="642854" cy="642854"/>
          </a:xfrm>
          <a:prstGeom prst="rect">
            <a:avLst/>
          </a:prstGeom>
        </p:spPr>
      </p:pic>
      <p:pic>
        <p:nvPicPr>
          <p:cNvPr id="24" name="Graphic 23" descr="Internet outline">
            <a:extLst>
              <a:ext uri="{FF2B5EF4-FFF2-40B4-BE49-F238E27FC236}">
                <a16:creationId xmlns:a16="http://schemas.microsoft.com/office/drawing/2014/main" id="{759BB7BE-5282-7CAE-A6B3-A94F925BFDE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8092" y="5613677"/>
            <a:ext cx="642854" cy="642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09024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249</TotalTime>
  <Words>330</Words>
  <Application>Microsoft Office PowerPoint</Application>
  <PresentationFormat>Widescreen</PresentationFormat>
  <Paragraphs>80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ADLaM Display</vt:lpstr>
      <vt:lpstr>Aptos</vt:lpstr>
      <vt:lpstr>Aptos Display</vt:lpstr>
      <vt:lpstr>Arial</vt:lpstr>
      <vt:lpstr>Wingdings</vt:lpstr>
      <vt:lpstr>Office Theme</vt:lpstr>
      <vt:lpstr>PowerPoint Presentation</vt:lpstr>
      <vt:lpstr>Scrum-Agile Team Roles</vt:lpstr>
      <vt:lpstr>Agile Phases</vt:lpstr>
      <vt:lpstr>Waterfall vs Agile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Yang, Bora</dc:creator>
  <cp:lastModifiedBy>Yang, Bora</cp:lastModifiedBy>
  <cp:revision>25</cp:revision>
  <dcterms:created xsi:type="dcterms:W3CDTF">2026-08-16T23:49:38Z</dcterms:created>
  <dcterms:modified xsi:type="dcterms:W3CDTF">2026-08-17T04:01:56Z</dcterms:modified>
</cp:coreProperties>
</file>